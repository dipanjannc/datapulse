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04120" y="1234440"/>
            <a:ext cx="146304" cy="146304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0" y="1783080"/>
            <a:ext cx="100584" cy="100584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46920" y="2240280"/>
            <a:ext cx="100584" cy="100584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44200" y="2788920"/>
            <a:ext cx="128016" cy="128016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81160" y="3383280"/>
            <a:ext cx="91440" cy="91440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84280" y="3611880"/>
            <a:ext cx="82296" cy="82296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177272" y="1380744"/>
            <a:ext cx="1024128" cy="402336"/>
          </a:xfrm>
          <a:prstGeom prst="line">
            <a:avLst/>
          </a:prstGeom>
          <a:ln w="15875">
            <a:solidFill>
              <a:srgbClr val="D9B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701784" y="1380744"/>
            <a:ext cx="475488" cy="859536"/>
          </a:xfrm>
          <a:prstGeom prst="line">
            <a:avLst/>
          </a:prstGeom>
          <a:ln w="15875">
            <a:solidFill>
              <a:srgbClr val="D9B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808208" y="1883664"/>
            <a:ext cx="393192" cy="905256"/>
          </a:xfrm>
          <a:prstGeom prst="line">
            <a:avLst/>
          </a:prstGeom>
          <a:ln w="15875">
            <a:solidFill>
              <a:srgbClr val="D9B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701784" y="2340864"/>
            <a:ext cx="1042416" cy="512064"/>
          </a:xfrm>
          <a:prstGeom prst="line">
            <a:avLst/>
          </a:prstGeom>
          <a:ln w="15875">
            <a:solidFill>
              <a:srgbClr val="D9B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326880" y="2916936"/>
            <a:ext cx="1417320" cy="466344"/>
          </a:xfrm>
          <a:prstGeom prst="line">
            <a:avLst/>
          </a:prstGeom>
          <a:ln w="15875">
            <a:solidFill>
              <a:srgbClr val="D9B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872216" y="2916936"/>
            <a:ext cx="548640" cy="694944"/>
          </a:xfrm>
          <a:prstGeom prst="line">
            <a:avLst/>
          </a:prstGeom>
          <a:ln w="15875">
            <a:solidFill>
              <a:srgbClr val="D9B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48640" y="1481328"/>
            <a:ext cx="50292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1517904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ENTERPRISE DATA INTELLIGENCE  ·  TECHNICAL BRIEFING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011680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0">
                <a:solidFill>
                  <a:srgbClr val="111119"/>
                </a:solidFill>
                <a:latin typeface="Segoe UI Light"/>
              </a:rPr>
              <a:t>Data</a:t>
            </a:r>
            <a:r>
              <a:rPr sz="5800" b="1">
                <a:solidFill>
                  <a:srgbClr val="6D00B3"/>
                </a:solidFill>
                <a:latin typeface="Segoe UI"/>
              </a:rPr>
              <a:t>Pulse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9052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111119"/>
                </a:solidFill>
                <a:latin typeface="Segoe UI"/>
              </a:rPr>
              <a:t>Ask your enterprise data in plain English.</a:t>
            </a:r>
          </a:p>
          <a:p>
            <a:pPr algn="l">
              <a:lnSpc>
                <a:spcPct val="130000"/>
              </a:lnSpc>
            </a:pPr>
            <a:r>
              <a:rPr sz="1900" b="0">
                <a:solidFill>
                  <a:srgbClr val="45454F"/>
                </a:solidFill>
                <a:latin typeface="Segoe UI"/>
              </a:rPr>
              <a:t>A knowledge graph plans the query. The database answers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41648"/>
            <a:ext cx="3840480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61104"/>
            <a:ext cx="76809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45454F"/>
                </a:solidFill>
                <a:latin typeface="Segoe UI"/>
              </a:rPr>
              <a:t>A reasoning agent grounded in a Neo4j schema graph — turning natural-language business questions into verified SQL, with every step of its reasoning open to inspection.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75504"/>
            <a:ext cx="2057400" cy="78638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40096"/>
            <a:ext cx="2057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11119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69280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spc="100">
                <a:solidFill>
                  <a:srgbClr val="6D00B3"/>
                </a:solidFill>
                <a:latin typeface="Segoe UI"/>
              </a:rPr>
              <a:t>DOMAINS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5175504"/>
            <a:ext cx="2057400" cy="78638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5340096"/>
            <a:ext cx="2057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11119"/>
                </a:solidFill>
                <a:latin typeface="Segoe UI"/>
              </a:rPr>
              <a:t>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5669280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spc="100">
                <a:solidFill>
                  <a:srgbClr val="6D00B3"/>
                </a:solidFill>
                <a:latin typeface="Segoe UI"/>
              </a:rPr>
              <a:t>TABLES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5175504"/>
            <a:ext cx="2057400" cy="78638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5340096"/>
            <a:ext cx="2057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11119"/>
                </a:solidFill>
                <a:latin typeface="Segoe UI"/>
              </a:rPr>
              <a:t>23,293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669280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spc="100">
                <a:solidFill>
                  <a:srgbClr val="6D00B3"/>
                </a:solidFill>
                <a:latin typeface="Segoe UI"/>
              </a:rPr>
              <a:t>ROWS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5175504"/>
            <a:ext cx="2057400" cy="78638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5340096"/>
            <a:ext cx="2057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11119"/>
                </a:solidFill>
                <a:latin typeface="Segoe UI"/>
              </a:rPr>
              <a:t>441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5669280"/>
            <a:ext cx="2057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spc="100">
                <a:solidFill>
                  <a:srgbClr val="6D00B3"/>
                </a:solidFill>
                <a:latin typeface="Segoe UI"/>
              </a:rPr>
              <a:t>KG NODES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27648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50" b="0" spc="30">
                <a:solidFill>
                  <a:srgbClr val="78788A"/>
                </a:solidFill>
                <a:latin typeface="Segoe UI"/>
              </a:rPr>
              <a:t>Neo4j AuraDB   ·   LLaMA-3.3-70B on Groq   ·   FastAPI   ·   SQLite   ·   184 automated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What we built, and why it is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5454F"/>
                </a:solidFill>
                <a:latin typeface="Segoe UI"/>
              </a:rPr>
              <a:t>The knowledge graph is not decoration — it is the mechanism that makes LLM-generated SQL trustworthy.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2609011" cy="162763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27632"/>
            <a:ext cx="2609011" cy="45720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01952"/>
            <a:ext cx="21700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11119"/>
                </a:solidFill>
                <a:latin typeface="Segoe UI"/>
              </a:rPr>
              <a:t>83.8%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68880"/>
            <a:ext cx="21700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110">
                <a:solidFill>
                  <a:srgbClr val="6D00B3"/>
                </a:solidFill>
                <a:latin typeface="Segoe UI"/>
              </a:rPr>
              <a:t>PROMPT CONTEXT REMOVED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88336"/>
            <a:ext cx="217009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19" b="0">
                <a:solidFill>
                  <a:srgbClr val="78788A"/>
                </a:solidFill>
                <a:latin typeface="Segoe UI"/>
              </a:rPr>
              <a:t>The graph sends the model 8 relevant tables, not all 50.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7107" y="1627632"/>
            <a:ext cx="2609011" cy="162763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77107" y="1627632"/>
            <a:ext cx="2609011" cy="45720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6563" y="1901952"/>
            <a:ext cx="21700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11119"/>
                </a:solidFill>
                <a:latin typeface="Segoe UI"/>
              </a:rPr>
              <a:t>6.2×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6563" y="2468880"/>
            <a:ext cx="21700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110">
                <a:solidFill>
                  <a:srgbClr val="0A6BAF"/>
                </a:solidFill>
                <a:latin typeface="Segoe UI"/>
              </a:rPr>
              <a:t>SMALLER SCHEMA PAYLOAD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6563" y="2688336"/>
            <a:ext cx="217009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19" b="0">
                <a:solidFill>
                  <a:srgbClr val="78788A"/>
                </a:solidFill>
                <a:latin typeface="Segoe UI"/>
              </a:rPr>
              <a:t>10,224 → 1,655 tokens per question. Faster, cheaper, sharper.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5575" y="1627632"/>
            <a:ext cx="2609011" cy="162763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5575" y="1627632"/>
            <a:ext cx="2609011" cy="45720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901952"/>
            <a:ext cx="21700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11119"/>
                </a:solidFill>
                <a:latin typeface="Segoe U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5031" y="2468880"/>
            <a:ext cx="21700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110">
                <a:solidFill>
                  <a:srgbClr val="0B7C63"/>
                </a:solidFill>
                <a:latin typeface="Segoe UI"/>
              </a:rPr>
              <a:t>READ-ONLY ENFORCEMENT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031" y="2688336"/>
            <a:ext cx="217009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19" b="0">
                <a:solidFill>
                  <a:srgbClr val="78788A"/>
                </a:solidFill>
                <a:latin typeface="Segoe UI"/>
              </a:rPr>
              <a:t>Three independent guards. The agent can never write.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4043" y="1627632"/>
            <a:ext cx="2609011" cy="162763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34043" y="1627632"/>
            <a:ext cx="2609011" cy="45720"/>
          </a:xfrm>
          <a:prstGeom prst="rect">
            <a:avLst/>
          </a:prstGeom>
          <a:solidFill>
            <a:srgbClr val="A6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499" y="1901952"/>
            <a:ext cx="21700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11119"/>
                </a:solidFill>
                <a:latin typeface="Segoe UI"/>
              </a:rPr>
              <a:t>184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499" y="2468880"/>
            <a:ext cx="21700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110">
                <a:solidFill>
                  <a:srgbClr val="A65E0A"/>
                </a:solidFill>
                <a:latin typeface="Segoe UI"/>
              </a:rPr>
              <a:t>AUTOMATED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499" y="2688336"/>
            <a:ext cx="217009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19" b="0">
                <a:solidFill>
                  <a:srgbClr val="78788A"/>
                </a:solidFill>
                <a:latin typeface="Segoe UI"/>
              </a:rPr>
              <a:t>The reasoning loop is unit-tested without a live model.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474720"/>
            <a:ext cx="3551834" cy="217627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474720"/>
            <a:ext cx="45720" cy="21762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657600"/>
            <a:ext cx="307634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10">
                <a:solidFill>
                  <a:srgbClr val="A100FF"/>
                </a:solidFill>
                <a:latin typeface="Segoe UI"/>
              </a:rPr>
              <a:t>01  DIAGNOSIS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3913632"/>
            <a:ext cx="30763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11119"/>
                </a:solidFill>
                <a:latin typeface="Segoe UI"/>
              </a:rPr>
              <a:t>The problem is not SQL generation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279392"/>
            <a:ext cx="3076346" cy="1225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19" b="0">
                <a:solidFill>
                  <a:srgbClr val="45454F"/>
                </a:solidFill>
                <a:latin typeface="Segoe UI"/>
              </a:rPr>
              <a:t>Models write plausible SQL easily. They fail at knowing which of 50 tables to use, how those tables join, and which column the business calls “revenue”. That is a metadata problem, not a language problem.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9930" y="3474720"/>
            <a:ext cx="3551834" cy="217627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19930" y="3474720"/>
            <a:ext cx="45720" cy="21762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5962" y="3657600"/>
            <a:ext cx="307634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10">
                <a:solidFill>
                  <a:srgbClr val="A100FF"/>
                </a:solidFill>
                <a:latin typeface="Segoe UI"/>
              </a:rPr>
              <a:t>02  MECHANISM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5962" y="3913632"/>
            <a:ext cx="30763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11119"/>
                </a:solidFill>
                <a:latin typeface="Segoe UI"/>
              </a:rPr>
              <a:t>The graph supplies the missing 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5962" y="4279392"/>
            <a:ext cx="3076346" cy="1225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19" b="0">
                <a:solidFill>
                  <a:srgbClr val="45454F"/>
                </a:solidFill>
                <a:latin typeface="Segoe UI"/>
              </a:rPr>
              <a:t>Neo4j holds the schema — every table, column, foreign key and canonical metric — searchable by meaning. The agent asks the graph what is relevant, then writes SQL against a precise, verified slice.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1220" y="3474720"/>
            <a:ext cx="3551834" cy="217627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1220" y="3474720"/>
            <a:ext cx="45720" cy="21762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7252" y="3657600"/>
            <a:ext cx="307634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10">
                <a:solidFill>
                  <a:srgbClr val="A100FF"/>
                </a:solidFill>
                <a:latin typeface="Segoe UI"/>
              </a:rPr>
              <a:t>03  OUTCOME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7252" y="3913632"/>
            <a:ext cx="307634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11119"/>
                </a:solidFill>
                <a:latin typeface="Segoe UI"/>
              </a:rPr>
              <a:t>Every answer carries its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7252" y="4279392"/>
            <a:ext cx="3076346" cy="1225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19" b="0">
                <a:solidFill>
                  <a:srgbClr val="45454F"/>
                </a:solidFill>
                <a:latin typeface="Segoe UI"/>
              </a:rPr>
              <a:t>The response returns the SQL, the rows, an inspectable reasoning trace, and a deterministic grounding check that confirms the stated figures actually appear in the 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The data is not the bottleneck. The translation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5454F"/>
                </a:solidFill>
                <a:latin typeface="Segoe UI"/>
              </a:rPr>
              <a:t>Every enterprise already stores the answer. Reaching it requires a person who holds the schema in their head.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78788A"/>
                </a:solidFill>
                <a:latin typeface="Segoe UI"/>
              </a:rPr>
              <a:t>THE JOURNEY OF ONE BUSINESS QUESTION,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47088"/>
            <a:ext cx="2101839" cy="106070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47088"/>
            <a:ext cx="2101839" cy="41148"/>
          </a:xfrm>
          <a:prstGeom prst="rect">
            <a:avLst/>
          </a:prstGeom>
          <a:solidFill>
            <a:srgbClr val="787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17360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spc="100">
                <a:solidFill>
                  <a:srgbClr val="78788A"/>
                </a:solidFill>
                <a:latin typeface="Segoe UI"/>
              </a:rPr>
              <a:t>MON 09:00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1736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>
                <a:solidFill>
                  <a:srgbClr val="111119"/>
                </a:solidFill>
                <a:latin typeface="Segoe UI"/>
              </a:rPr>
              <a:t>The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87168"/>
            <a:ext cx="173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5454F"/>
                </a:solidFill>
                <a:latin typeface="Segoe UI"/>
              </a:rPr>
              <a:t>“What was revenue by region last quarter?”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64195" y="2318004"/>
            <a:ext cx="118872" cy="118872"/>
          </a:xfrm>
          <a:prstGeom prst="rightArrow">
            <a:avLst/>
          </a:prstGeom>
          <a:solidFill>
            <a:srgbClr val="C6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6783" y="1847088"/>
            <a:ext cx="2101839" cy="106070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6783" y="1847088"/>
            <a:ext cx="2101839" cy="41148"/>
          </a:xfrm>
          <a:prstGeom prst="rect">
            <a:avLst/>
          </a:prstGeom>
          <a:solidFill>
            <a:srgbClr val="787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9663" y="2011680"/>
            <a:ext cx="17360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spc="100">
                <a:solidFill>
                  <a:srgbClr val="78788A"/>
                </a:solidFill>
                <a:latin typeface="Segoe UI"/>
              </a:rPr>
              <a:t>MON 11:30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9663" y="2231136"/>
            <a:ext cx="1736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>
                <a:solidFill>
                  <a:srgbClr val="111119"/>
                </a:solidFill>
                <a:latin typeface="Segoe UI"/>
              </a:rPr>
              <a:t>The ticket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9663" y="2487168"/>
            <a:ext cx="173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5454F"/>
                </a:solidFill>
                <a:latin typeface="Segoe UI"/>
              </a:rPr>
              <a:t>Filed to the analytics queue. Position: seventh.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12339" y="2318004"/>
            <a:ext cx="118872" cy="118872"/>
          </a:xfrm>
          <a:prstGeom prst="rightArrow">
            <a:avLst/>
          </a:prstGeom>
          <a:solidFill>
            <a:srgbClr val="C6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4927" y="1847088"/>
            <a:ext cx="2101839" cy="106070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4927" y="1847088"/>
            <a:ext cx="2101839" cy="41148"/>
          </a:xfrm>
          <a:prstGeom prst="rect">
            <a:avLst/>
          </a:prstGeom>
          <a:solidFill>
            <a:srgbClr val="A6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7807" y="2011680"/>
            <a:ext cx="17360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spc="100">
                <a:solidFill>
                  <a:srgbClr val="A65E0A"/>
                </a:solidFill>
                <a:latin typeface="Segoe UI"/>
              </a:rPr>
              <a:t>WED 14:00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7807" y="2231136"/>
            <a:ext cx="1736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>
                <a:solidFill>
                  <a:srgbClr val="111119"/>
                </a:solidFill>
                <a:latin typeface="Segoe UI"/>
              </a:rPr>
              <a:t>The translation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7807" y="2487168"/>
            <a:ext cx="173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5454F"/>
                </a:solidFill>
                <a:latin typeface="Segoe UI"/>
              </a:rPr>
              <a:t>An analyst reverse-engineers the schema and the joins.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160483" y="2318004"/>
            <a:ext cx="118872" cy="118872"/>
          </a:xfrm>
          <a:prstGeom prst="rightArrow">
            <a:avLst/>
          </a:prstGeom>
          <a:solidFill>
            <a:srgbClr val="C6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3071" y="1847088"/>
            <a:ext cx="2101839" cy="106070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3071" y="1847088"/>
            <a:ext cx="2101839" cy="41148"/>
          </a:xfrm>
          <a:prstGeom prst="rect">
            <a:avLst/>
          </a:prstGeom>
          <a:solidFill>
            <a:srgbClr val="A6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5951" y="2011680"/>
            <a:ext cx="17360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spc="100">
                <a:solidFill>
                  <a:srgbClr val="A65E0A"/>
                </a:solidFill>
                <a:latin typeface="Segoe UI"/>
              </a:rPr>
              <a:t>THU 16:00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5951" y="2231136"/>
            <a:ext cx="1736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>
                <a:solidFill>
                  <a:srgbClr val="111119"/>
                </a:solidFill>
                <a:latin typeface="Segoe UI"/>
              </a:rPr>
              <a:t>The spreadsheet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5951" y="2487168"/>
            <a:ext cx="173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5454F"/>
                </a:solidFill>
                <a:latin typeface="Segoe UI"/>
              </a:rPr>
              <a:t>A number arrives — with a caveat about which column was used.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408627" y="2318004"/>
            <a:ext cx="118872" cy="118872"/>
          </a:xfrm>
          <a:prstGeom prst="rightArrow">
            <a:avLst/>
          </a:prstGeom>
          <a:solidFill>
            <a:srgbClr val="C6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41215" y="1847088"/>
            <a:ext cx="2101839" cy="1060704"/>
          </a:xfrm>
          <a:prstGeom prst="rect">
            <a:avLst/>
          </a:prstGeom>
          <a:solidFill>
            <a:srgbClr val="EFEFF4"/>
          </a:solidFill>
          <a:ln w="17780">
            <a:solidFill>
              <a:srgbClr val="BE2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41215" y="1847088"/>
            <a:ext cx="2101839" cy="41148"/>
          </a:xfrm>
          <a:prstGeom prst="rect">
            <a:avLst/>
          </a:prstGeom>
          <a:solidFill>
            <a:srgbClr val="B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24095" y="2011680"/>
            <a:ext cx="17360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spc="100">
                <a:solidFill>
                  <a:srgbClr val="BE2F2A"/>
                </a:solidFill>
                <a:latin typeface="Segoe UI"/>
              </a:rPr>
              <a:t>FRI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4095" y="2231136"/>
            <a:ext cx="17360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>
                <a:solidFill>
                  <a:srgbClr val="111119"/>
                </a:solidFill>
                <a:latin typeface="Segoe UI"/>
              </a:rPr>
              <a:t>The 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4095" y="2487168"/>
            <a:ext cx="173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5454F"/>
                </a:solidFill>
                <a:latin typeface="Segoe UI"/>
              </a:rPr>
              <a:t>Already made, without it.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218687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78788A"/>
                </a:solidFill>
                <a:latin typeface="Segoe UI"/>
              </a:rPr>
              <a:t>WHY IT KEEPS HAPPENING — FOUR STRUCTURAL CAUSES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438144"/>
            <a:ext cx="2609011" cy="1316736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438144"/>
            <a:ext cx="45720" cy="1316736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3621024"/>
            <a:ext cx="215181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80" b="1">
                <a:solidFill>
                  <a:srgbClr val="111119"/>
                </a:solidFill>
                <a:latin typeface="Segoe UI"/>
              </a:rPr>
              <a:t>Schema knowledge is tribal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" y="4078224"/>
            <a:ext cx="21518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40" b="0">
                <a:solidFill>
                  <a:srgbClr val="45454F"/>
                </a:solidFill>
                <a:latin typeface="Segoe UI"/>
              </a:rPr>
              <a:t>Which table is authoritative for revenue? The analysts know. It is written down nowhere the business can read.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77107" y="3438144"/>
            <a:ext cx="2609011" cy="1316736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77107" y="3438144"/>
            <a:ext cx="45720" cy="1316736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4851" y="3621024"/>
            <a:ext cx="215181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80" b="1">
                <a:solidFill>
                  <a:srgbClr val="111119"/>
                </a:solidFill>
                <a:latin typeface="Segoe UI"/>
              </a:rPr>
              <a:t>Dashboards answer yesterday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4851" y="4078224"/>
            <a:ext cx="21518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40" b="0">
                <a:solidFill>
                  <a:srgbClr val="45454F"/>
                </a:solidFill>
                <a:latin typeface="Segoe UI"/>
              </a:rPr>
              <a:t>Pre-built BI covers the questions someone already thought to ask. Anything genuinely new rejoins the queue.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05575" y="3438144"/>
            <a:ext cx="2609011" cy="1316736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05575" y="3438144"/>
            <a:ext cx="45720" cy="1316736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3319" y="3621024"/>
            <a:ext cx="215181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80" b="1">
                <a:solidFill>
                  <a:srgbClr val="111119"/>
                </a:solidFill>
                <a:latin typeface="Segoe UI"/>
              </a:rPr>
              <a:t>The cost is in the joining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3319" y="4078224"/>
            <a:ext cx="21518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40" b="0">
                <a:solidFill>
                  <a:srgbClr val="45454F"/>
                </a:solidFill>
                <a:latin typeface="Segoe UI"/>
              </a:rPr>
              <a:t>The question is one sentence. The answer is three joins, a date boundary, and a contested definition.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34043" y="3438144"/>
            <a:ext cx="2609011" cy="1316736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34043" y="3438144"/>
            <a:ext cx="45720" cy="1316736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71787" y="3621024"/>
            <a:ext cx="215181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80" b="1">
                <a:solidFill>
                  <a:srgbClr val="111119"/>
                </a:solidFill>
                <a:latin typeface="Segoe UI"/>
              </a:rPr>
              <a:t>Scale compounds 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71787" y="4078224"/>
            <a:ext cx="21518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40" b="0">
                <a:solidFill>
                  <a:srgbClr val="45454F"/>
                </a:solidFill>
                <a:latin typeface="Segoe UI"/>
              </a:rPr>
              <a:t>Fifty tables across five domains is a modest footprint. Real estates run to thousands — and the queue grows with them.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956048"/>
            <a:ext cx="11094415" cy="603504"/>
          </a:xfrm>
          <a:prstGeom prst="rect">
            <a:avLst/>
          </a:prstGeom>
          <a:solidFill>
            <a:srgbClr val="EFEFF4"/>
          </a:solidFill>
          <a:ln w="1778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4956048"/>
            <a:ext cx="50292" cy="6035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59" y="5129784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D00B3"/>
                </a:solidFill>
                <a:latin typeface="Segoe UI"/>
              </a:rPr>
              <a:t>The reframe:  </a:t>
            </a:r>
            <a:r>
              <a:rPr sz="1250" b="0">
                <a:solidFill>
                  <a:srgbClr val="111119"/>
                </a:solidFill>
                <a:latin typeface="Segoe UI"/>
              </a:rPr>
              <a:t>the scarce resource was never the data, or even the SQL. It is the structural knowledge of how the data fits together — so we made that knowledge a queryable asset.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WHY THE OBVIOUS APPROACH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“Just paste the schema into the prompt” breaks in four predictable 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5454F"/>
                </a:solidFill>
                <a:latin typeface="Segoe UI"/>
              </a:rPr>
              <a:t>Each failure is silent: the model returns confident, well-formed SQL that is wrong.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2609011" cy="239572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27632"/>
            <a:ext cx="2609011" cy="45720"/>
          </a:xfrm>
          <a:prstGeom prst="rect">
            <a:avLst/>
          </a:prstGeom>
          <a:solidFill>
            <a:srgbClr val="B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865376"/>
            <a:ext cx="21518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spc="110">
                <a:solidFill>
                  <a:srgbClr val="BE2F2A"/>
                </a:solidFill>
                <a:latin typeface="Segoe UI"/>
              </a:rPr>
              <a:t>FAILURE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39696"/>
            <a:ext cx="21518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11119"/>
                </a:solidFill>
                <a:latin typeface="Segoe UI"/>
              </a:rPr>
              <a:t>Context dilution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23744"/>
            <a:ext cx="215181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5454F"/>
                </a:solidFill>
                <a:latin typeface="Segoe UI"/>
              </a:rPr>
              <a:t>The whole catalogue is 373 columns and ~10,200 tokens. Buried in it, the model's attention spreads thin and it picks a plausible-looking wrong column.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3547872"/>
            <a:ext cx="2151811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675888"/>
            <a:ext cx="21518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BE2F2A"/>
                </a:solidFill>
                <a:latin typeface="Consolas"/>
              </a:rPr>
              <a:t>50 tables in · 8 relevant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77107" y="1627632"/>
            <a:ext cx="2609011" cy="239572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77107" y="1627632"/>
            <a:ext cx="2609011" cy="45720"/>
          </a:xfrm>
          <a:prstGeom prst="rect">
            <a:avLst/>
          </a:prstGeom>
          <a:solidFill>
            <a:srgbClr val="B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4851" y="1865376"/>
            <a:ext cx="21518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spc="110">
                <a:solidFill>
                  <a:srgbClr val="BE2F2A"/>
                </a:solidFill>
                <a:latin typeface="Segoe UI"/>
              </a:rPr>
              <a:t>FAILURE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4851" y="2139696"/>
            <a:ext cx="21518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11119"/>
                </a:solidFill>
                <a:latin typeface="Segoe UI"/>
              </a:rPr>
              <a:t>Invented joins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4851" y="2523744"/>
            <a:ext cx="215181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5454F"/>
                </a:solidFill>
                <a:latin typeface="Segoe UI"/>
              </a:rPr>
              <a:t>Foreign keys are not in the DDL the model sees. It guesses a join key that looks right, and silently produces a wrong row count.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4851" y="3547872"/>
            <a:ext cx="2151811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4851" y="3675888"/>
            <a:ext cx="21518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BE2F2A"/>
                </a:solidFill>
                <a:latin typeface="Consolas"/>
              </a:rPr>
              <a:t>40 real FK edges · 0 guessable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5575" y="1627632"/>
            <a:ext cx="2609011" cy="239572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5575" y="1627632"/>
            <a:ext cx="2609011" cy="45720"/>
          </a:xfrm>
          <a:prstGeom prst="rect">
            <a:avLst/>
          </a:prstGeom>
          <a:solidFill>
            <a:srgbClr val="B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1865376"/>
            <a:ext cx="21518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spc="110">
                <a:solidFill>
                  <a:srgbClr val="BE2F2A"/>
                </a:solidFill>
                <a:latin typeface="Segoe UI"/>
              </a:rPr>
              <a:t>FAILURE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3319" y="2139696"/>
            <a:ext cx="21518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11119"/>
                </a:solidFill>
                <a:latin typeface="Segoe UI"/>
              </a:rPr>
              <a:t>Ambiguous business terms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3319" y="2523744"/>
            <a:ext cx="215181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5454F"/>
                </a:solidFill>
                <a:latin typeface="Segoe UI"/>
              </a:rPr>
              <a:t>“Revenue” matches invoices.amount and order_items.line_total. Both are numeric. Only one is correct — and they differ by 3.8×.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3319" y="3547872"/>
            <a:ext cx="2151811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3319" y="3675888"/>
            <a:ext cx="21518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BE2F2A"/>
                </a:solidFill>
                <a:latin typeface="Consolas"/>
              </a:rPr>
              <a:t>$7,782,964 vs $2,030,281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34043" y="1627632"/>
            <a:ext cx="2609011" cy="239572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4043" y="1627632"/>
            <a:ext cx="2609011" cy="45720"/>
          </a:xfrm>
          <a:prstGeom prst="rect">
            <a:avLst/>
          </a:prstGeom>
          <a:solidFill>
            <a:srgbClr val="B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71787" y="1865376"/>
            <a:ext cx="21518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spc="110">
                <a:solidFill>
                  <a:srgbClr val="BE2F2A"/>
                </a:solidFill>
                <a:latin typeface="Segoe UI"/>
              </a:rPr>
              <a:t>FAILURE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1787" y="2139696"/>
            <a:ext cx="21518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11119"/>
                </a:solidFill>
                <a:latin typeface="Segoe UI"/>
              </a:rPr>
              <a:t>Unverifiable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1787" y="2523744"/>
            <a:ext cx="215181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5454F"/>
                </a:solidFill>
                <a:latin typeface="Segoe UI"/>
              </a:rPr>
              <a:t>A single opaque generation. No trace of why those tables, no check that the stated number appears anywhere in the result.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71787" y="3547872"/>
            <a:ext cx="2151811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1787" y="3675888"/>
            <a:ext cx="21518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BE2F2A"/>
                </a:solidFill>
                <a:latin typeface="Consolas"/>
              </a:rPr>
              <a:t>Confident · Unauditable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242816"/>
            <a:ext cx="11094415" cy="1444752"/>
          </a:xfrm>
          <a:prstGeom prst="rect">
            <a:avLst/>
          </a:prstGeom>
          <a:solidFill>
            <a:srgbClr val="EFEFF4"/>
          </a:solidFill>
          <a:ln w="1778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242816"/>
            <a:ext cx="50292" cy="144475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4462272"/>
            <a:ext cx="104543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spc="120">
                <a:solidFill>
                  <a:srgbClr val="6D00B3"/>
                </a:solidFill>
                <a:latin typeface="Segoe UI"/>
              </a:rPr>
              <a:t>THE COMMON ROOT CAUSE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4773168"/>
            <a:ext cx="104543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400" b="1">
                <a:solidFill>
                  <a:srgbClr val="111119"/>
                </a:solidFill>
                <a:latin typeface="Segoe UI"/>
              </a:rPr>
              <a:t>All four failures are the same failure: the model is asked to plan a query without a map of the schema. </a:t>
            </a:r>
            <a:r>
              <a:rPr sz="1240" b="0">
                <a:solidFill>
                  <a:srgbClr val="45454F"/>
                </a:solidFill>
                <a:latin typeface="Segoe UI"/>
              </a:rPr>
              <a:t>Fixing it does not need a bigger model or a longer prompt — it needs the structural knowledge (what joins to what, what a metric means, what is relevant to this question) to be stored, searchable, and handed to the model as fact rather than left to inference.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THE CORE DESIGN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Two databases, two jobs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5454F"/>
                </a:solidFill>
                <a:latin typeface="Segoe UI"/>
              </a:rPr>
              <a:t>The single most important architectural choice in the system — and the reason the graph earns its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5135727" cy="274320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27632"/>
            <a:ext cx="5135727" cy="45720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83664"/>
            <a:ext cx="45870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spc="120">
                <a:solidFill>
                  <a:srgbClr val="6D00B3"/>
                </a:solidFill>
                <a:latin typeface="Segoe UI"/>
              </a:rPr>
              <a:t>SOURCE OF THE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39696"/>
            <a:ext cx="45870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119"/>
                </a:solidFill>
                <a:latin typeface="Segoe UI"/>
              </a:rPr>
              <a:t>Neo4j — the Knowledge Graph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" y="2542032"/>
            <a:ext cx="4587087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688336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spc="80">
                <a:solidFill>
                  <a:srgbClr val="78788A"/>
                </a:solidFill>
                <a:latin typeface="Segoe UI"/>
              </a:rPr>
              <a:t>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665476"/>
            <a:ext cx="3709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90" b="0">
                <a:solidFill>
                  <a:srgbClr val="45454F"/>
                </a:solidFill>
                <a:latin typeface="Segoe UI"/>
              </a:rPr>
              <a:t>Schema metadata only — never row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01752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spc="80">
                <a:solidFill>
                  <a:srgbClr val="78788A"/>
                </a:solidFill>
                <a:latin typeface="Segoe UI"/>
              </a:rPr>
              <a:t>NODES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2994660"/>
            <a:ext cx="3709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90" b="0">
                <a:solidFill>
                  <a:srgbClr val="45454F"/>
                </a:solidFill>
                <a:latin typeface="Segoe UI"/>
              </a:rPr>
              <a:t>5 Domain · 50 Table · 373 Column · 13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4670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spc="80">
                <a:solidFill>
                  <a:srgbClr val="78788A"/>
                </a:solidFill>
                <a:latin typeface="Segoe UI"/>
              </a:rPr>
              <a:t>EDGES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0784" y="3323844"/>
            <a:ext cx="3709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90" b="0">
                <a:solidFill>
                  <a:srgbClr val="45454F"/>
                </a:solidFill>
                <a:latin typeface="Segoe UI"/>
              </a:rPr>
              <a:t>40 :REFERENCES join edges carrying exact keys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675887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spc="80">
                <a:solidFill>
                  <a:srgbClr val="78788A"/>
                </a:solidFill>
                <a:latin typeface="Segoe UI"/>
              </a:rPr>
              <a:t>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784" y="3653027"/>
            <a:ext cx="3709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90" b="0">
                <a:solidFill>
                  <a:srgbClr val="45454F"/>
                </a:solidFill>
                <a:latin typeface="Segoe UI"/>
              </a:rPr>
              <a:t>3 cosine vector indexes over 384-d embeddings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00507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spc="80">
                <a:solidFill>
                  <a:srgbClr val="78788A"/>
                </a:solidFill>
                <a:latin typeface="Segoe UI"/>
              </a:rPr>
              <a:t>ANSWERS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3982211"/>
            <a:ext cx="3709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90" b="0">
                <a:solidFill>
                  <a:srgbClr val="45454F"/>
                </a:solidFill>
                <a:latin typeface="Segoe UI"/>
              </a:rPr>
              <a:t>“Which tables matter, and how do they join?”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7327" y="1627632"/>
            <a:ext cx="5135727" cy="274320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07327" y="1627632"/>
            <a:ext cx="5135727" cy="45720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1647" y="1883664"/>
            <a:ext cx="45870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spc="120">
                <a:solidFill>
                  <a:srgbClr val="0A6BAF"/>
                </a:solidFill>
                <a:latin typeface="Segoe UI"/>
              </a:rPr>
              <a:t>SOURCE OF THE 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1647" y="2139696"/>
            <a:ext cx="45870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119"/>
                </a:solidFill>
                <a:latin typeface="Segoe UI"/>
              </a:rPr>
              <a:t>SQLite — the Execution Store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81647" y="2542032"/>
            <a:ext cx="4587087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1647" y="2688336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spc="80">
                <a:solidFill>
                  <a:srgbClr val="78788A"/>
                </a:solidFill>
                <a:latin typeface="Segoe UI"/>
              </a:rPr>
              <a:t>HOLDS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9471" y="2665476"/>
            <a:ext cx="3709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90" b="0">
                <a:solidFill>
                  <a:srgbClr val="45454F"/>
                </a:solidFill>
                <a:latin typeface="Segoe UI"/>
              </a:rPr>
              <a:t>The actual business rows — 23,293 across 50 tables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1647" y="301752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spc="80">
                <a:solidFill>
                  <a:srgbClr val="78788A"/>
                </a:solidFill>
                <a:latin typeface="Segoe UI"/>
              </a:rPr>
              <a:t>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59471" y="2994660"/>
            <a:ext cx="3709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90" b="0">
                <a:solidFill>
                  <a:srgbClr val="45454F"/>
                </a:solidFill>
                <a:latin typeface="Segoe UI"/>
              </a:rPr>
              <a:t>Read-only connection, 5 s timeout, 200-row cap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1647" y="3346704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spc="80">
                <a:solidFill>
                  <a:srgbClr val="78788A"/>
                </a:solidFill>
                <a:latin typeface="Segoe UI"/>
              </a:rPr>
              <a:t>GUARD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59471" y="3323844"/>
            <a:ext cx="3709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90" b="0">
                <a:solidFill>
                  <a:srgbClr val="45454F"/>
                </a:solidFill>
                <a:latin typeface="Segoe UI"/>
              </a:rPr>
              <a:t>SELECT / WITH allowlist; writes and DDL rejected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647" y="3675887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spc="80">
                <a:solidFill>
                  <a:srgbClr val="78788A"/>
                </a:solidFill>
                <a:latin typeface="Segoe UI"/>
              </a:rPr>
              <a:t>USED BY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59471" y="3653027"/>
            <a:ext cx="3709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90" b="0">
                <a:solidFill>
                  <a:srgbClr val="45454F"/>
                </a:solidFill>
                <a:latin typeface="Segoe UI"/>
              </a:rPr>
              <a:t>run_sql and sample_values tools 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1647" y="400507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 spc="80">
                <a:solidFill>
                  <a:srgbClr val="78788A"/>
                </a:solidFill>
                <a:latin typeface="Segoe UI"/>
              </a:rPr>
              <a:t>ANSWERS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59471" y="3982211"/>
            <a:ext cx="3709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90" b="0">
                <a:solidFill>
                  <a:srgbClr val="45454F"/>
                </a:solidFill>
                <a:latin typeface="Segoe UI"/>
              </a:rPr>
              <a:t>“What is the number?”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9446" y="1901952"/>
            <a:ext cx="12801" cy="2194560"/>
          </a:xfrm>
          <a:prstGeom prst="rect">
            <a:avLst/>
          </a:prstGeom>
          <a:solidFill>
            <a:srgbClr val="C6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1527" y="2852928"/>
            <a:ext cx="5486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78788A"/>
                </a:solidFill>
                <a:latin typeface="Segoe UI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645152"/>
            <a:ext cx="3551834" cy="1005840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828032"/>
            <a:ext cx="30946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>
                <a:solidFill>
                  <a:srgbClr val="111119"/>
                </a:solidFill>
                <a:latin typeface="Segoe UI"/>
              </a:rPr>
              <a:t>Regenerating data never rebuilds the graph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" y="5138928"/>
            <a:ext cx="309463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50" b="0">
                <a:solidFill>
                  <a:srgbClr val="45454F"/>
                </a:solidFill>
                <a:latin typeface="Segoe UI"/>
              </a:rPr>
              <a:t>The graph is metadata-only, so changing the generator seed leaves it untouched. Build once, query forever.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19930" y="4645152"/>
            <a:ext cx="3551834" cy="1005840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57674" y="4828032"/>
            <a:ext cx="30946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>
                <a:solidFill>
                  <a:srgbClr val="111119"/>
                </a:solidFill>
                <a:latin typeface="Segoe UI"/>
              </a:rPr>
              <a:t>The plan is auditable before a row is read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7674" y="5138928"/>
            <a:ext cx="309463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50" b="0">
                <a:solidFill>
                  <a:srgbClr val="45454F"/>
                </a:solidFill>
                <a:latin typeface="Segoe UI"/>
              </a:rPr>
              <a:t>Retrieval returns the chosen tables and join keys as data — reviewable independently of any SQL.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91220" y="4645152"/>
            <a:ext cx="3551834" cy="1005840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8964" y="4828032"/>
            <a:ext cx="30946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1">
                <a:solidFill>
                  <a:srgbClr val="111119"/>
                </a:solidFill>
                <a:latin typeface="Segoe UI"/>
              </a:rPr>
              <a:t>Each store is guarded for its own risk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8964" y="5138928"/>
            <a:ext cx="309463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50" b="0">
                <a:solidFill>
                  <a:srgbClr val="45454F"/>
                </a:solidFill>
                <a:latin typeface="Segoe UI"/>
              </a:rPr>
              <a:t>The graph is read-only by nature. SQLite is read-only by enforcement. Neither can be mutated by a query.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SYSTEM BLOCK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The whole system in six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389888" cy="658368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45720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0">
                <a:solidFill>
                  <a:srgbClr val="78788A"/>
                </a:solidFill>
                <a:latin typeface="Segoe UI"/>
              </a:rPr>
              <a:t>L6</a:t>
            </a:r>
            <a:r>
              <a:rPr sz="1040" b="1">
                <a:solidFill>
                  <a:srgbClr val="A100FF"/>
                </a:solidFill>
                <a:latin typeface="Segoe UI"/>
              </a:rPr>
              <a:t>   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21408" y="1463040"/>
            <a:ext cx="3076346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21408" y="1463040"/>
            <a:ext cx="3076346" cy="3657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618488"/>
            <a:ext cx="2765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Browser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856232"/>
            <a:ext cx="2765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vanilla JS · zero framework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4058" y="1463040"/>
            <a:ext cx="3076346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44058" y="1463040"/>
            <a:ext cx="3076346" cy="3657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8650" y="1618488"/>
            <a:ext cx="2765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Live pipeline + 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8650" y="1856232"/>
            <a:ext cx="2765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every step rendered as it happens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66708" y="1463040"/>
            <a:ext cx="3076346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66708" y="1463040"/>
            <a:ext cx="3076346" cy="3657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1300" y="1618488"/>
            <a:ext cx="2765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Data-quality panel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1300" y="1856232"/>
            <a:ext cx="2765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profile of the generated dataset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2523744" y="2132380"/>
            <a:ext cx="118872" cy="109728"/>
          </a:xfrm>
          <a:prstGeom prst="downArrow">
            <a:avLst/>
          </a:prstGeom>
          <a:solidFill>
            <a:srgbClr val="C6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253996"/>
            <a:ext cx="1389888" cy="658368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253996"/>
            <a:ext cx="45720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2253996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0">
                <a:solidFill>
                  <a:srgbClr val="78788A"/>
                </a:solidFill>
                <a:latin typeface="Segoe UI"/>
              </a:rPr>
              <a:t>L5</a:t>
            </a:r>
            <a:r>
              <a:rPr sz="1040" b="1">
                <a:solidFill>
                  <a:srgbClr val="A100FF"/>
                </a:solidFill>
                <a:latin typeface="Segoe UI"/>
              </a:rPr>
              <a:t>   API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21408" y="2253996"/>
            <a:ext cx="2270683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21408" y="2253996"/>
            <a:ext cx="2270683" cy="3657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0" y="2409444"/>
            <a:ext cx="19597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POST /api/query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2647188"/>
            <a:ext cx="19597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question → grounded answer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38395" y="2253996"/>
            <a:ext cx="2270683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38395" y="2253996"/>
            <a:ext cx="2270683" cy="3657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2987" y="2409444"/>
            <a:ext cx="19597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GET /api/health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2987" y="2647188"/>
            <a:ext cx="19597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graph reachability + freshness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55383" y="2253996"/>
            <a:ext cx="2270683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55383" y="2253996"/>
            <a:ext cx="2270683" cy="3657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19975" y="2409444"/>
            <a:ext cx="19597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GET /api/domains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9975" y="2647188"/>
            <a:ext cx="19597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catalogue domains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371" y="2253996"/>
            <a:ext cx="2270683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72371" y="2253996"/>
            <a:ext cx="2270683" cy="3657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36963" y="2409444"/>
            <a:ext cx="19597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GET /api/quality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36963" y="2647188"/>
            <a:ext cx="19597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validator verdict + profile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2523744" y="2923336"/>
            <a:ext cx="118872" cy="109728"/>
          </a:xfrm>
          <a:prstGeom prst="downArrow">
            <a:avLst/>
          </a:prstGeom>
          <a:solidFill>
            <a:srgbClr val="C6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3044952"/>
            <a:ext cx="1389888" cy="658368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3044952"/>
            <a:ext cx="45720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3044952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0">
                <a:solidFill>
                  <a:srgbClr val="78788A"/>
                </a:solidFill>
                <a:latin typeface="Segoe UI"/>
              </a:rPr>
              <a:t>L4</a:t>
            </a:r>
            <a:r>
              <a:rPr sz="1040" b="1">
                <a:solidFill>
                  <a:srgbClr val="A100FF"/>
                </a:solidFill>
                <a:latin typeface="Segoe UI"/>
              </a:rPr>
              <a:t>   Reasoning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21408" y="3044952"/>
            <a:ext cx="3076346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21408" y="3044952"/>
            <a:ext cx="3076346" cy="3657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0" y="3200400"/>
            <a:ext cx="2765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ReAct agent loop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0" y="3438144"/>
            <a:ext cx="2765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plan → act → observe · max 6 steps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44058" y="3044952"/>
            <a:ext cx="3076346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344058" y="3044952"/>
            <a:ext cx="3076346" cy="3657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08650" y="3200400"/>
            <a:ext cx="2765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LLaMA-3.3-70B · Groq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8650" y="3438144"/>
            <a:ext cx="2765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tool-calling inference, temp 0.1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66708" y="3044952"/>
            <a:ext cx="3076346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566708" y="3044952"/>
            <a:ext cx="3076346" cy="3657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31300" y="3200400"/>
            <a:ext cx="2765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Grounding check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1300" y="3438144"/>
            <a:ext cx="2765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figures matched to rows, deterministic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2523744" y="3714292"/>
            <a:ext cx="118872" cy="109728"/>
          </a:xfrm>
          <a:prstGeom prst="downArrow">
            <a:avLst/>
          </a:prstGeom>
          <a:solidFill>
            <a:srgbClr val="C6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8640" y="3835908"/>
            <a:ext cx="1389888" cy="658368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" y="3835908"/>
            <a:ext cx="45720" cy="658368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3232" y="3835908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0">
                <a:solidFill>
                  <a:srgbClr val="78788A"/>
                </a:solidFill>
                <a:latin typeface="Segoe UI"/>
              </a:rPr>
              <a:t>L3</a:t>
            </a:r>
            <a:r>
              <a:rPr sz="1040" b="1">
                <a:solidFill>
                  <a:srgbClr val="6D00B3"/>
                </a:solidFill>
                <a:latin typeface="Segoe UI"/>
              </a:rPr>
              <a:t>   Tool layer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21408" y="3835908"/>
            <a:ext cx="3076346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121408" y="3835908"/>
            <a:ext cx="3076346" cy="36576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86000" y="3991356"/>
            <a:ext cx="2765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Consolas"/>
              </a:rPr>
              <a:t>get_schema_context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0" y="4229100"/>
            <a:ext cx="2765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→ Neo4j · tables, join keys, metrics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44058" y="3835908"/>
            <a:ext cx="3076346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44058" y="3835908"/>
            <a:ext cx="3076346" cy="36576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08650" y="3991356"/>
            <a:ext cx="2765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Consolas"/>
              </a:rPr>
              <a:t>sample_values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08650" y="4229100"/>
            <a:ext cx="2765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→ SQLite · resolve a categorical filter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66708" y="3835908"/>
            <a:ext cx="3076346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566708" y="3835908"/>
            <a:ext cx="3076346" cy="36576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31300" y="3991356"/>
            <a:ext cx="2765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Consolas"/>
              </a:rPr>
              <a:t>run_sql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31300" y="4229100"/>
            <a:ext cx="2765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→ SQLite · read-only SELECT / WITH</a:t>
            </a:r>
          </a:p>
        </p:txBody>
      </p:sp>
      <p:sp>
        <p:nvSpPr>
          <p:cNvPr id="74" name="Down Arrow 73"/>
          <p:cNvSpPr/>
          <p:nvPr/>
        </p:nvSpPr>
        <p:spPr>
          <a:xfrm>
            <a:off x="2523744" y="4505248"/>
            <a:ext cx="118872" cy="109728"/>
          </a:xfrm>
          <a:prstGeom prst="downArrow">
            <a:avLst/>
          </a:prstGeom>
          <a:solidFill>
            <a:srgbClr val="C6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8640" y="4626864"/>
            <a:ext cx="1389888" cy="658368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48640" y="4626864"/>
            <a:ext cx="45720" cy="658368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3232" y="4626864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0">
                <a:solidFill>
                  <a:srgbClr val="78788A"/>
                </a:solidFill>
                <a:latin typeface="Segoe UI"/>
              </a:rPr>
              <a:t>L2</a:t>
            </a:r>
            <a:r>
              <a:rPr sz="1040" b="1">
                <a:solidFill>
                  <a:srgbClr val="6D00B3"/>
                </a:solidFill>
                <a:latin typeface="Segoe UI"/>
              </a:rPr>
              <a:t>   Knowledge &amp; data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121408" y="4626864"/>
            <a:ext cx="3076346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121408" y="4626864"/>
            <a:ext cx="3076346" cy="36576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86000" y="4782312"/>
            <a:ext cx="2765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Neo4j AuraDB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286000" y="5020056"/>
            <a:ext cx="2765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441 nodes · 40 join edges · 3 vector indexes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44058" y="4626864"/>
            <a:ext cx="3076346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344058" y="4626864"/>
            <a:ext cx="3076346" cy="36576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508650" y="4782312"/>
            <a:ext cx="2765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all-MiniLM-L6-v2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08650" y="5020056"/>
            <a:ext cx="2765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384-d embeddings, local, no API cost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66708" y="4626864"/>
            <a:ext cx="3076346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566708" y="4626864"/>
            <a:ext cx="3076346" cy="36576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31300" y="4782312"/>
            <a:ext cx="276545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SQLite  sales.db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731300" y="5020056"/>
            <a:ext cx="27654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50 tables · 23,293 rows · opened read-only</a:t>
            </a:r>
          </a:p>
        </p:txBody>
      </p:sp>
      <p:sp>
        <p:nvSpPr>
          <p:cNvPr id="90" name="Down Arrow 89"/>
          <p:cNvSpPr/>
          <p:nvPr/>
        </p:nvSpPr>
        <p:spPr>
          <a:xfrm>
            <a:off x="2523744" y="5296204"/>
            <a:ext cx="118872" cy="109728"/>
          </a:xfrm>
          <a:prstGeom prst="downArrow">
            <a:avLst/>
          </a:prstGeom>
          <a:solidFill>
            <a:srgbClr val="C6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8640" y="5417820"/>
            <a:ext cx="1389888" cy="658368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48640" y="5417820"/>
            <a:ext cx="45720" cy="658368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3232" y="5417820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0">
                <a:solidFill>
                  <a:srgbClr val="78788A"/>
                </a:solidFill>
                <a:latin typeface="Segoe UI"/>
              </a:rPr>
              <a:t>L1</a:t>
            </a:r>
            <a:r>
              <a:rPr sz="1040" b="1">
                <a:solidFill>
                  <a:srgbClr val="0A6BAF"/>
                </a:solidFill>
                <a:latin typeface="Segoe UI"/>
              </a:rPr>
              <a:t>   Catalogue &amp; build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121408" y="5417820"/>
            <a:ext cx="2270683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121408" y="5417820"/>
            <a:ext cx="2270683" cy="36576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286000" y="5573268"/>
            <a:ext cx="19597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Consolas"/>
              </a:rPr>
              <a:t>schema.json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86000" y="5811012"/>
            <a:ext cx="19597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the single contract every layer reads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538395" y="5417820"/>
            <a:ext cx="2270683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538395" y="5417820"/>
            <a:ext cx="2270683" cy="36576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02987" y="5573268"/>
            <a:ext cx="19597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datagen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702987" y="5811012"/>
            <a:ext cx="19597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seeded CSVs, one module per domain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955383" y="5417820"/>
            <a:ext cx="2270683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955383" y="5417820"/>
            <a:ext cx="2270683" cy="36576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119975" y="5573268"/>
            <a:ext cx="19597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quality gate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119975" y="5811012"/>
            <a:ext cx="19597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conformance + referential integrity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372371" y="5417820"/>
            <a:ext cx="2270683" cy="6583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371" y="5417820"/>
            <a:ext cx="2270683" cy="36576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536963" y="5573268"/>
            <a:ext cx="19597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loader + KG builder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536963" y="5811012"/>
            <a:ext cx="19597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→ SQLite  ·  → Neo4j, idempotent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21408" y="6190488"/>
            <a:ext cx="95216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45454F"/>
                </a:solidFill>
                <a:latin typeface="Segoe UI"/>
              </a:rPr>
              <a:t>Request flows down L6 → L1;  the grounded response returns up with its SQL, rows and trace.  </a:t>
            </a:r>
            <a:r>
              <a:rPr sz="919" b="1">
                <a:solidFill>
                  <a:srgbClr val="6D00B3"/>
                </a:solidFill>
                <a:latin typeface="Segoe UI"/>
              </a:rPr>
              <a:t>One FastAPI process serves every layer above the datastores.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END-TO-END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One catalogue contract, two stores, one reasoning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78788A"/>
                </a:solidFill>
                <a:latin typeface="Segoe UI"/>
              </a:rPr>
              <a:t>① BUILD TIME  ·  OFFLINE, IDEMPOTENT, RE-RUNNABLE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00784"/>
            <a:ext cx="2487168" cy="56692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00784"/>
            <a:ext cx="45720" cy="5669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01368"/>
            <a:ext cx="21579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>
                <a:solidFill>
                  <a:srgbClr val="111119"/>
                </a:solidFill>
                <a:latin typeface="Consolas"/>
              </a:rPr>
              <a:t>schema.json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29968"/>
            <a:ext cx="21579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78788A"/>
                </a:solidFill>
                <a:latin typeface="Segoe UI"/>
              </a:rPr>
              <a:t>the catalogue contract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27248" y="1915667"/>
            <a:ext cx="201168" cy="137160"/>
          </a:xfrm>
          <a:prstGeom prst="rightArrow">
            <a:avLst/>
          </a:prstGeom>
          <a:solidFill>
            <a:srgbClr val="C6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9856" y="1700784"/>
            <a:ext cx="2487168" cy="56692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9856" y="1700784"/>
            <a:ext cx="45720" cy="5669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801368"/>
            <a:ext cx="21579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>
                <a:solidFill>
                  <a:srgbClr val="111119"/>
                </a:solidFill>
                <a:latin typeface="Consolas"/>
              </a:rPr>
              <a:t>datagen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029968"/>
            <a:ext cx="21579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78788A"/>
                </a:solidFill>
                <a:latin typeface="Segoe UI"/>
              </a:rPr>
              <a:t>one seeded CSV per table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98464" y="1915667"/>
            <a:ext cx="201168" cy="137160"/>
          </a:xfrm>
          <a:prstGeom prst="rightArrow">
            <a:avLst/>
          </a:prstGeom>
          <a:solidFill>
            <a:srgbClr val="C6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1700784"/>
            <a:ext cx="2487168" cy="56692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1700784"/>
            <a:ext cx="45720" cy="5669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801368"/>
            <a:ext cx="21579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>
                <a:solidFill>
                  <a:srgbClr val="111119"/>
                </a:solidFill>
                <a:latin typeface="Consolas"/>
              </a:rPr>
              <a:t>quality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029968"/>
            <a:ext cx="21579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78788A"/>
                </a:solidFill>
                <a:latin typeface="Segoe UI"/>
              </a:rPr>
              <a:t>conformance + integrity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69680" y="1915667"/>
            <a:ext cx="201168" cy="137160"/>
          </a:xfrm>
          <a:prstGeom prst="rightArrow">
            <a:avLst/>
          </a:prstGeom>
          <a:solidFill>
            <a:srgbClr val="C6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62288" y="1700784"/>
            <a:ext cx="2487168" cy="56692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62288" y="1700784"/>
            <a:ext cx="45720" cy="56692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3456" y="1801368"/>
            <a:ext cx="21579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>
                <a:solidFill>
                  <a:srgbClr val="111119"/>
                </a:solidFill>
                <a:latin typeface="Consolas"/>
              </a:rPr>
              <a:t>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6" y="2029968"/>
            <a:ext cx="21579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78788A"/>
                </a:solidFill>
                <a:latin typeface="Segoe UI"/>
              </a:rPr>
              <a:t>→ SQLite  ·  → Neo4j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54203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78788A"/>
                </a:solidFill>
                <a:latin typeface="Segoe UI"/>
              </a:rPr>
              <a:t>② SHARED STATE  ·  TWO STORES, TWO JOBS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761487"/>
            <a:ext cx="5382615" cy="731520"/>
          </a:xfrm>
          <a:prstGeom prst="rect">
            <a:avLst/>
          </a:prstGeom>
          <a:solidFill>
            <a:srgbClr val="EFEFF4"/>
          </a:solidFill>
          <a:ln w="17780">
            <a:solidFill>
              <a:srgbClr val="6D00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2889503"/>
            <a:ext cx="48705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>
                <a:solidFill>
                  <a:srgbClr val="6D00B3"/>
                </a:solidFill>
                <a:latin typeface="Segoe UI"/>
              </a:rPr>
              <a:t>Neo4j  ·  Knowledge Graph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172968"/>
            <a:ext cx="48705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45454F"/>
                </a:solidFill>
                <a:latin typeface="Segoe UI"/>
              </a:rPr>
              <a:t>441 nodes  ·  40 join edges  ·  3 vector indexes (384-d)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42535" y="2907791"/>
            <a:ext cx="9326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6D00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6D00B3"/>
                </a:solidFill>
                <a:latin typeface="Segoe UI"/>
              </a:rPr>
              <a:t>THE PLAN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0439" y="2761487"/>
            <a:ext cx="5382615" cy="731520"/>
          </a:xfrm>
          <a:prstGeom prst="rect">
            <a:avLst/>
          </a:prstGeom>
          <a:solidFill>
            <a:srgbClr val="EFEFF4"/>
          </a:solidFill>
          <a:ln w="17780">
            <a:solidFill>
              <a:srgbClr val="0A6B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6471" y="2889503"/>
            <a:ext cx="48705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>
                <a:solidFill>
                  <a:srgbClr val="0A6BAF"/>
                </a:solidFill>
                <a:latin typeface="Segoe UI"/>
              </a:rPr>
              <a:t>SQLite  ·  sales.db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6471" y="3172968"/>
            <a:ext cx="48705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45454F"/>
                </a:solidFill>
                <a:latin typeface="Segoe UI"/>
              </a:rPr>
              <a:t>50 tables  ·  23,293 rows  ·  opened read-only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54335" y="2907791"/>
            <a:ext cx="932688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0A6B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0A6BAF"/>
                </a:solidFill>
                <a:latin typeface="Segoe UI"/>
              </a:rPr>
              <a:t>THE DATA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10351008" y="2304288"/>
            <a:ext cx="137160" cy="182880"/>
          </a:xfrm>
          <a:prstGeom prst="downArrow">
            <a:avLst/>
          </a:prstGeom>
          <a:solidFill>
            <a:srgbClr val="C6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803903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78788A"/>
                </a:solidFill>
                <a:latin typeface="Segoe UI"/>
              </a:rPr>
              <a:t>③ QUERY TIME  ·  THE THREE TOOLS THE MODEL MAY CALL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023359"/>
            <a:ext cx="3931920" cy="60350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023359"/>
            <a:ext cx="45720" cy="603504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4133087"/>
            <a:ext cx="36027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6D00B3"/>
                </a:solidFill>
                <a:latin typeface="Consolas"/>
              </a:rPr>
              <a:t>get_schema_context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370831"/>
            <a:ext cx="36027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78788A"/>
                </a:solidFill>
                <a:latin typeface="Segoe UI"/>
              </a:rPr>
              <a:t>tables · exact join keys · metric defs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45151" y="4023359"/>
            <a:ext cx="3401568" cy="60350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45151" y="4023359"/>
            <a:ext cx="45720" cy="603504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19" y="4133087"/>
            <a:ext cx="30723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0A6BAF"/>
                </a:solidFill>
                <a:latin typeface="Consolas"/>
              </a:rPr>
              <a:t>sample_values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19" y="4370831"/>
            <a:ext cx="3072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78788A"/>
                </a:solidFill>
                <a:latin typeface="Segoe UI"/>
              </a:rPr>
              <a:t>distinct values → resolve a filter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11312" y="4023359"/>
            <a:ext cx="3429000" cy="60350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11312" y="4023359"/>
            <a:ext cx="45720" cy="603504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4133087"/>
            <a:ext cx="30998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0A6BAF"/>
                </a:solidFill>
                <a:latin typeface="Consolas"/>
              </a:rPr>
              <a:t>run_sql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370831"/>
            <a:ext cx="30998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78788A"/>
                </a:solidFill>
                <a:latin typeface="Segoe UI"/>
              </a:rPr>
              <a:t>execute the SELECT / WITH</a:t>
            </a:r>
          </a:p>
        </p:txBody>
      </p:sp>
      <p:sp>
        <p:nvSpPr>
          <p:cNvPr id="50" name="Up-Down Arrow 49"/>
          <p:cNvSpPr/>
          <p:nvPr/>
        </p:nvSpPr>
        <p:spPr>
          <a:xfrm>
            <a:off x="2423160" y="3538727"/>
            <a:ext cx="137160" cy="219456"/>
          </a:xfrm>
          <a:prstGeom prst="upDownArrow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Up-Down Arrow 50"/>
          <p:cNvSpPr/>
          <p:nvPr/>
        </p:nvSpPr>
        <p:spPr>
          <a:xfrm>
            <a:off x="7132320" y="3538727"/>
            <a:ext cx="137160" cy="219456"/>
          </a:xfrm>
          <a:prstGeom prst="upDownArrow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4919472"/>
            <a:ext cx="2103120" cy="78638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5065776"/>
            <a:ext cx="17007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>
                <a:solidFill>
                  <a:srgbClr val="111119"/>
                </a:solidFill>
                <a:latin typeface="Segoe UI"/>
              </a:rPr>
              <a:t>Question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" y="5330952"/>
            <a:ext cx="17007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80" b="0">
                <a:solidFill>
                  <a:srgbClr val="78788A"/>
                </a:solidFill>
                <a:latin typeface="Segoe UI"/>
              </a:rPr>
              <a:t>plain English, from
the browser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2743200" y="5244083"/>
            <a:ext cx="182880" cy="137160"/>
          </a:xfrm>
          <a:prstGeom prst="right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017520" y="4919472"/>
            <a:ext cx="4663440" cy="786384"/>
          </a:xfrm>
          <a:prstGeom prst="rect">
            <a:avLst/>
          </a:prstGeom>
          <a:solidFill>
            <a:srgbClr val="EFEFF4"/>
          </a:solidFill>
          <a:ln w="1905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017520" y="4919472"/>
            <a:ext cx="45720" cy="78638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73552" y="5038344"/>
            <a:ext cx="41513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11119"/>
                </a:solidFill>
                <a:latin typeface="Segoe UI"/>
              </a:rPr>
              <a:t>ReAct agent loop</a:t>
            </a:r>
            <a:r>
              <a:rPr sz="1000" b="0">
                <a:solidFill>
                  <a:srgbClr val="6D00B3"/>
                </a:solidFill>
                <a:latin typeface="Segoe UI"/>
              </a:rPr>
              <a:t>   ·   LLaMA-3.3-70B on Groq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73552" y="5330952"/>
            <a:ext cx="41513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919" b="0">
                <a:solidFill>
                  <a:srgbClr val="45454F"/>
                </a:solidFill>
                <a:latin typeface="Segoe UI"/>
              </a:rPr>
              <a:t>Calls tools → reads observations → refines. Up to 6 steps, then a final answer.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7772399" y="5244083"/>
            <a:ext cx="182880" cy="137160"/>
          </a:xfrm>
          <a:prstGeom prst="right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46719" y="4919472"/>
            <a:ext cx="3669487" cy="786384"/>
          </a:xfrm>
          <a:prstGeom prst="rect">
            <a:avLst/>
          </a:prstGeom>
          <a:solidFill>
            <a:srgbClr val="F6F6F9"/>
          </a:solidFill>
          <a:ln w="17780">
            <a:solidFill>
              <a:srgbClr val="0B7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47888" y="5047488"/>
            <a:ext cx="326715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>
                <a:solidFill>
                  <a:srgbClr val="0B7C63"/>
                </a:solidFill>
                <a:latin typeface="Segoe UI"/>
              </a:rPr>
              <a:t>Grounded response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47888" y="5312664"/>
            <a:ext cx="326715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880" b="0">
                <a:solidFill>
                  <a:srgbClr val="45454F"/>
                </a:solidFill>
                <a:latin typeface="Consolas"/>
              </a:rPr>
              <a:t>answer · sql · rows · trace[] · grounded flag</a:t>
            </a:r>
          </a:p>
        </p:txBody>
      </p:sp>
      <p:sp>
        <p:nvSpPr>
          <p:cNvPr id="64" name="Up-Down Arrow 63"/>
          <p:cNvSpPr/>
          <p:nvPr/>
        </p:nvSpPr>
        <p:spPr>
          <a:xfrm>
            <a:off x="4206240" y="4654296"/>
            <a:ext cx="137160" cy="237744"/>
          </a:xfrm>
          <a:prstGeom prst="upDown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Up-Down Arrow 64"/>
          <p:cNvSpPr/>
          <p:nvPr/>
        </p:nvSpPr>
        <p:spPr>
          <a:xfrm>
            <a:off x="6126479" y="4654296"/>
            <a:ext cx="137160" cy="237744"/>
          </a:xfrm>
          <a:prstGeom prst="upDown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48640" y="5925312"/>
            <a:ext cx="11094415" cy="365760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6384" y="6016752"/>
            <a:ext cx="106189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45454F"/>
                </a:solidFill>
                <a:latin typeface="Segoe UI"/>
              </a:rPr>
              <a:t>Served by one FastAPI process  </a:t>
            </a:r>
            <a:r>
              <a:rPr sz="940" b="0">
                <a:solidFill>
                  <a:srgbClr val="6D00B3"/>
                </a:solidFill>
                <a:latin typeface="Consolas"/>
              </a:rPr>
              <a:t>src/api/main.py</a:t>
            </a:r>
            <a:r>
              <a:rPr sz="940" b="0">
                <a:solidFill>
                  <a:srgbClr val="45454F"/>
                </a:solidFill>
                <a:latin typeface="Segoe UI"/>
              </a:rPr>
              <a:t>  — the API and the UI share a single origin. Deployed on Railway, auto-releasing on every push.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TOOLS &amp;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Every component, and the job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5454F"/>
                </a:solidFill>
                <a:latin typeface="Segoe UI"/>
              </a:rPr>
              <a:t>Managed services where they earn their cost; local and zero-infrastructure everywhere else.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3539642" cy="210312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27632"/>
            <a:ext cx="3539642" cy="45720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828800"/>
            <a:ext cx="308244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14">
                <a:solidFill>
                  <a:srgbClr val="6D00B3"/>
                </a:solidFill>
                <a:latin typeface="Segoe UI"/>
              </a:rPr>
              <a:t>KNOWLEDGE GRAPH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2103120"/>
            <a:ext cx="3064154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19456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Neo4j AuraDB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363724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Managed graph database — the schema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56032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neo4j Python driver 6.0.2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729484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Bounded, pooled sessions; health probes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92608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Cypher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095244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shortestPath join discovery · vector queryNodes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29184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Native vector indexes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461004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3 cosine indexes: Column, Table, Domain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6026" y="1627632"/>
            <a:ext cx="3539642" cy="210312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6026" y="1627632"/>
            <a:ext cx="3539642" cy="45720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63770" y="1828800"/>
            <a:ext cx="308244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14">
                <a:solidFill>
                  <a:srgbClr val="6D00B3"/>
                </a:solidFill>
                <a:latin typeface="Segoe UI"/>
              </a:rPr>
              <a:t>AI &amp; INFERENCE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63770" y="2103120"/>
            <a:ext cx="3064154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3770" y="219456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Groq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3770" y="2363724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Low-latency inference host for tool-calling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3770" y="256032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LLaMA-3.3-70B-versatile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3770" y="2729484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Plans the query, writes SQL, synthesises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3770" y="292608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groq SDK 1.5.0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3770" y="3095244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Retry-After handling · malformed-call recovery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3770" y="329184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ReAct tool-calling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3770" y="3461004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Our own loop — provider-agnostic by design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3412" y="1627632"/>
            <a:ext cx="3539642" cy="210312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3412" y="1627632"/>
            <a:ext cx="3539642" cy="45720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1156" y="1828800"/>
            <a:ext cx="308244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14">
                <a:solidFill>
                  <a:srgbClr val="0A6BAF"/>
                </a:solidFill>
                <a:latin typeface="Segoe UI"/>
              </a:rPr>
              <a:t>EMBEDDINGS &amp; RETRIEVAL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41156" y="2103120"/>
            <a:ext cx="3064154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1156" y="219456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sentence-transformers 4.1.0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1156" y="2363724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Local encoder — no per-query API cost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1156" y="256032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all-MiniLM-L6-v2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1156" y="2729484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384-dimension L2-normalised vectors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1156" y="292608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Soft domain routing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1156" y="3095244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Ranks domains without hard-filtering them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1156" y="329184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Join-path expansion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1156" y="3461004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Shortest paths over :REFERENCES, ≤ 3 hops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950208"/>
            <a:ext cx="3539642" cy="210312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3950208"/>
            <a:ext cx="3539642" cy="45720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" y="4151376"/>
            <a:ext cx="308244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14">
                <a:solidFill>
                  <a:srgbClr val="6D00B3"/>
                </a:solidFill>
                <a:latin typeface="Segoe UI"/>
              </a:rPr>
              <a:t>BACKEND &amp; API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" y="4425696"/>
            <a:ext cx="3064154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" y="4517136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FastAPI 0.115.9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" y="468630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Typed endpoints, one origin for API and UI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" y="4882896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Uvicorn 0.34.3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" y="505206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ASGI server, the production process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" y="5248656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Pydantic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" y="541782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Request and response contracts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" y="5614416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python-dotenv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" y="578358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Credential and configuration loading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26026" y="3950208"/>
            <a:ext cx="3539642" cy="210312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26026" y="3950208"/>
            <a:ext cx="3539642" cy="45720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63770" y="4151376"/>
            <a:ext cx="308244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14">
                <a:solidFill>
                  <a:srgbClr val="0A6BAF"/>
                </a:solidFill>
                <a:latin typeface="Segoe UI"/>
              </a:rPr>
              <a:t>DATA &amp; QUALITY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63770" y="4425696"/>
            <a:ext cx="3064154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63770" y="4517136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SQLite 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63770" y="468630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Execution store, opened read-only per query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63770" y="4882896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pandas 2.3.0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63770" y="505206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CSV generation and bulk load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63770" y="5248656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Faker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63770" y="541782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Seeded synthetic records — seed 42, deterministic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63770" y="5614416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Schema-driven validator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63770" y="578358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Conformance + referential integrity gate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03412" y="3950208"/>
            <a:ext cx="3539642" cy="210312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03412" y="3950208"/>
            <a:ext cx="3539642" cy="45720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41156" y="4151376"/>
            <a:ext cx="308244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14">
                <a:solidFill>
                  <a:srgbClr val="0B7C63"/>
                </a:solidFill>
                <a:latin typeface="Segoe UI"/>
              </a:rPr>
              <a:t>DELIVERY &amp; ASSURANCE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41156" y="4425696"/>
            <a:ext cx="3064154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41156" y="4517136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Vanilla JS + CSS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41156" y="468630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Zero-dependency frontend, no build step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41156" y="4882896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pytest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41156" y="505206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184 tests — the loop runs without a live model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41156" y="5248656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Railway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41156" y="541782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Health-checked auto-deploy, config as code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41156" y="5614416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11119"/>
                </a:solidFill>
                <a:latin typeface="Segoe UI"/>
              </a:rPr>
              <a:t>GitHub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41156" y="5783580"/>
            <a:ext cx="308244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78788A"/>
                </a:solidFill>
                <a:latin typeface="Segoe UI"/>
              </a:rPr>
              <a:t>Source of truth; every push triggers a release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INSIDE THE KNOWLEDGE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What we actually store in Neo4j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5454F"/>
                </a:solidFill>
                <a:latin typeface="Segoe UI"/>
              </a:rPr>
              <a:t>Schema metadata, modelled as a graph — because the questions we ask of it are traversal questions.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6309360" cy="243230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27632"/>
            <a:ext cx="45720" cy="2432304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10512"/>
            <a:ext cx="5833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11119"/>
                </a:solidFill>
                <a:latin typeface="Segoe UI"/>
              </a:rPr>
              <a:t>The node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2249424"/>
            <a:ext cx="12984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6D00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6D00B3"/>
                </a:solidFill>
                <a:latin typeface="Consolas"/>
              </a:rPr>
              <a:t>:Domain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267712"/>
            <a:ext cx="6035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111119"/>
                </a:solidFill>
                <a:latin typeface="Segoe U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2318004"/>
            <a:ext cx="3401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45454F"/>
                </a:solidFill>
                <a:latin typeface="Segoe UI"/>
              </a:rPr>
              <a:t>name · description · embedding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" y="2679191"/>
            <a:ext cx="12984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6D00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6D00B3"/>
                </a:solidFill>
                <a:latin typeface="Consolas"/>
              </a:rPr>
              <a:t>:Table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697479"/>
            <a:ext cx="6035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111119"/>
                </a:solidFill>
                <a:latin typeface="Segoe UI"/>
              </a:rP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2747772"/>
            <a:ext cx="3401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45454F"/>
                </a:solidFill>
                <a:latin typeface="Segoe UI"/>
              </a:rPr>
              <a:t>name · description · domain · embedding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" y="3108960"/>
            <a:ext cx="12984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6D00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6D00B3"/>
                </a:solidFill>
                <a:latin typeface="Consolas"/>
              </a:rPr>
              <a:t>:Column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127248"/>
            <a:ext cx="6035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111119"/>
                </a:solidFill>
                <a:latin typeface="Segoe UI"/>
              </a:rPr>
              <a:t>373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3177540"/>
            <a:ext cx="3401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45454F"/>
                </a:solidFill>
                <a:latin typeface="Segoe UI"/>
              </a:rPr>
              <a:t>type · PK flag · aliases · allowed values · embedding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" y="3538728"/>
            <a:ext cx="12984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6D00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6D00B3"/>
                </a:solidFill>
                <a:latin typeface="Consolas"/>
              </a:rPr>
              <a:t>:Metric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557016"/>
            <a:ext cx="6035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111119"/>
                </a:solidFill>
                <a:latin typeface="Segoe U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7248" y="3607308"/>
            <a:ext cx="3401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45454F"/>
                </a:solidFill>
                <a:latin typeface="Segoe UI"/>
              </a:rPr>
              <a:t>canonical SQL expression · owning tables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87184" y="1627632"/>
            <a:ext cx="4455871" cy="243230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87184" y="1627632"/>
            <a:ext cx="45720" cy="24323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3216" y="1810512"/>
            <a:ext cx="39803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11119"/>
                </a:solidFill>
                <a:latin typeface="Segoe UI"/>
              </a:rPr>
              <a:t>The relationships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3216" y="2267712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45454F"/>
                </a:solidFill>
                <a:latin typeface="Consolas"/>
              </a:rPr>
              <a:t>:HAS_TABLE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226771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5454F"/>
                </a:solidFill>
                <a:latin typeface="Segoe UI"/>
              </a:rPr>
              <a:t>Domain →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3216" y="2468880"/>
            <a:ext cx="39438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78788A"/>
                </a:solidFill>
                <a:latin typeface="Segoe UI"/>
              </a:rPr>
              <a:t>domain membership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2697479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45454F"/>
                </a:solidFill>
                <a:latin typeface="Consolas"/>
              </a:rPr>
              <a:t>:HAS_COLUMN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2697479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5454F"/>
                </a:solidFill>
                <a:latin typeface="Segoe UI"/>
              </a:rPr>
              <a:t>Table → Column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2898648"/>
            <a:ext cx="39438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78788A"/>
                </a:solidFill>
                <a:latin typeface="Segoe UI"/>
              </a:rPr>
              <a:t>schema composition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3216" y="3127248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45454F"/>
                </a:solidFill>
                <a:latin typeface="Consolas"/>
              </a:rPr>
              <a:t>:FOREIGN_KEY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0848" y="3127248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5454F"/>
                </a:solidFill>
                <a:latin typeface="Segoe UI"/>
              </a:rPr>
              <a:t>Column → Column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43216" y="3328415"/>
            <a:ext cx="39438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78788A"/>
                </a:solidFill>
                <a:latin typeface="Segoe UI"/>
              </a:rPr>
              <a:t>column-level FK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3216" y="3557016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6D00B3"/>
                </a:solidFill>
                <a:latin typeface="Consolas"/>
              </a:rPr>
              <a:t>:REFERENCES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0848" y="3557016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11119"/>
                </a:solidFill>
                <a:latin typeface="Segoe UI"/>
              </a:rPr>
              <a:t>Table → 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3216" y="3758184"/>
            <a:ext cx="394380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78788A"/>
                </a:solidFill>
                <a:latin typeface="Segoe UI"/>
              </a:rPr>
              <a:t>carries from_column, to_column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279392"/>
            <a:ext cx="11094415" cy="1408176"/>
          </a:xfrm>
          <a:prstGeom prst="rect">
            <a:avLst/>
          </a:prstGeom>
          <a:solidFill>
            <a:srgbClr val="EFEFF4"/>
          </a:solidFill>
          <a:ln w="1778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279392"/>
            <a:ext cx="50292" cy="140817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4480559"/>
            <a:ext cx="104543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spc="120">
                <a:solidFill>
                  <a:srgbClr val="6D00B3"/>
                </a:solidFill>
                <a:latin typeface="Segoe UI"/>
              </a:rPr>
              <a:t>:REFERENCES IS THE EDGE THAT DOES THE 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" y="4773168"/>
            <a:ext cx="66751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>
                <a:solidFill>
                  <a:srgbClr val="45454F"/>
                </a:solidFill>
                <a:latin typeface="Segoe UI"/>
              </a:rPr>
              <a:t>Each of the 40 foreign keys is projected onto a table-to-table edge that carries the exact join columns as edge properties. </a:t>
            </a:r>
            <a:r>
              <a:rPr sz="1100" b="1">
                <a:solidFill>
                  <a:srgbClr val="111119"/>
                </a:solidFill>
                <a:latin typeface="Segoe UI"/>
              </a:rPr>
              <a:t>That single modelling choice turns “how do these tables join?” — a question an LLM can only guess at — into a shortest-path query with a provably correct answer.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4608576"/>
            <a:ext cx="111953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0" y="4736592"/>
            <a:ext cx="11195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11119"/>
                </a:solidFill>
                <a:latin typeface="Segoe U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047488"/>
            <a:ext cx="111953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spc="70">
                <a:solidFill>
                  <a:srgbClr val="6D00B3"/>
                </a:solidFill>
                <a:latin typeface="Segoe UI"/>
              </a:rPr>
              <a:t>VECTOR INDEXES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38234" y="4608576"/>
            <a:ext cx="111953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38234" y="4736592"/>
            <a:ext cx="11195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11119"/>
                </a:solidFill>
                <a:latin typeface="Segoe UI"/>
              </a:rPr>
              <a:t>384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38234" y="5047488"/>
            <a:ext cx="111953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spc="70">
                <a:solidFill>
                  <a:srgbClr val="6D00B3"/>
                </a:solidFill>
                <a:latin typeface="Segoe UI"/>
              </a:rPr>
              <a:t>DIMENSIONS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304068" y="4608576"/>
            <a:ext cx="111953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04068" y="4736592"/>
            <a:ext cx="11195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11119"/>
                </a:solidFill>
                <a:latin typeface="Segoe UI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04068" y="5047488"/>
            <a:ext cx="111953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spc="70">
                <a:solidFill>
                  <a:srgbClr val="6D00B3"/>
                </a:solidFill>
                <a:latin typeface="Segoe UI"/>
              </a:rPr>
              <a:t>SELF-JOINS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RETRIEVAL  ·  HOW THE GRAPH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From a sentence to a precise, joinable schema slice — in five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5454F"/>
                </a:solidFill>
                <a:latin typeface="Segoe UI"/>
              </a:rPr>
              <a:t>This runs before the model writes a single character of SQL.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7406640" cy="82296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27632"/>
            <a:ext cx="45720" cy="8229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65376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D00B3"/>
                </a:solidFill>
                <a:latin typeface="Segoe UI Ligh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1773936"/>
            <a:ext cx="62910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111119"/>
                </a:solidFill>
                <a:latin typeface="Segoe UI"/>
              </a:rPr>
              <a:t>Embed the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048256"/>
            <a:ext cx="6364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60" b="0">
                <a:solidFill>
                  <a:srgbClr val="45454F"/>
                </a:solidFill>
                <a:latin typeface="Segoe UI"/>
              </a:rPr>
              <a:t>The sentence becomes a 384-dimension vector using a local all-MiniLM-L6-v2 model. No API call, no cost, runs inside the container.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51176"/>
            <a:ext cx="7406640" cy="82296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551176"/>
            <a:ext cx="45720" cy="8229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788920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D00B3"/>
                </a:solidFill>
                <a:latin typeface="Segoe UI Ligh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697480"/>
            <a:ext cx="62910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111119"/>
                </a:solidFill>
                <a:latin typeface="Segoe UI"/>
              </a:rPr>
              <a:t>Route the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2971800"/>
            <a:ext cx="6364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60" b="0">
                <a:solidFill>
                  <a:srgbClr val="45454F"/>
                </a:solidFill>
                <a:latin typeface="Segoe UI"/>
              </a:rPr>
              <a:t>Rank the 5 :Domain nodes by vector similarity. Deliberately a soft ranking, never a hard filter — cross-domain questions must still 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7406640" cy="82296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" cy="8229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712463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D00B3"/>
                </a:solidFill>
                <a:latin typeface="Segoe UI Ligh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621024"/>
            <a:ext cx="62910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111119"/>
                </a:solidFill>
                <a:latin typeface="Segoe UI"/>
              </a:rPr>
              <a:t>Seed the 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3895344"/>
            <a:ext cx="6364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60" b="0">
                <a:solidFill>
                  <a:srgbClr val="45454F"/>
                </a:solidFill>
                <a:latin typeface="Segoe UI"/>
              </a:rPr>
              <a:t>Vector-search :Column and :Table nodes, with a recall boost scoped to the top-ranked domains. Keep the best 8 tables as seeds.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98264"/>
            <a:ext cx="7406640" cy="82296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398264"/>
            <a:ext cx="45720" cy="8229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63600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D00B3"/>
                </a:solidFill>
                <a:latin typeface="Segoe UI Light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4544568"/>
            <a:ext cx="62910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111119"/>
                </a:solidFill>
                <a:latin typeface="Segoe UI"/>
              </a:rPr>
              <a:t>Expand the join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4818888"/>
            <a:ext cx="6364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60" b="0">
                <a:solidFill>
                  <a:srgbClr val="45454F"/>
                </a:solidFill>
                <a:latin typeface="Segoe UI"/>
              </a:rPr>
              <a:t>Walk shortestPath over :REFERENCES between every pair of seeds, up to 3 hops, and add self-referential loops. Returns the exact join keys.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321808"/>
            <a:ext cx="7406640" cy="82296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321808"/>
            <a:ext cx="45720" cy="8229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55955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D00B3"/>
                </a:solidFill>
                <a:latin typeface="Segoe UI Light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5468112"/>
            <a:ext cx="62910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111119"/>
                </a:solidFill>
                <a:latin typeface="Segoe UI"/>
              </a:rPr>
              <a:t>Assemble the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88" y="5742432"/>
            <a:ext cx="6364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60" b="0">
                <a:solidFill>
                  <a:srgbClr val="45454F"/>
                </a:solidFill>
                <a:latin typeface="Segoe UI"/>
              </a:rPr>
              <a:t>Fetch columns, types, PKs and allowed values for the final table set, plus any canonical metric whose tables intersect 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84463" y="1627632"/>
            <a:ext cx="3358591" cy="221284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84463" y="1627632"/>
            <a:ext cx="45720" cy="2212848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0495" y="1810512"/>
            <a:ext cx="2883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11119"/>
                </a:solidFill>
                <a:latin typeface="Segoe UI"/>
              </a:rPr>
              <a:t>What retrieval returns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0495" y="2194560"/>
            <a:ext cx="28465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0A6BAF"/>
                </a:solidFill>
                <a:latin typeface="Consolas"/>
              </a:rPr>
              <a:t>tables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0495" y="2350008"/>
            <a:ext cx="28465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78788A"/>
                </a:solidFill>
                <a:latin typeface="Segoe UI"/>
              </a:rPr>
              <a:t>descriptions, columns, types, PKs, allowed values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0495" y="2523744"/>
            <a:ext cx="28465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0A6BAF"/>
                </a:solidFill>
                <a:latin typeface="Consolas"/>
              </a:rPr>
              <a:t>joins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5" y="2679191"/>
            <a:ext cx="28465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78788A"/>
                </a:solidFill>
                <a:latin typeface="Segoe UI"/>
              </a:rPr>
              <a:t>exact from/to columns + cardinality hint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0495" y="2852928"/>
            <a:ext cx="28465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0A6BAF"/>
                </a:solidFill>
                <a:latin typeface="Consolas"/>
              </a:rPr>
              <a:t>domains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0495" y="3008376"/>
            <a:ext cx="28465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78788A"/>
                </a:solidFill>
                <a:latin typeface="Segoe UI"/>
              </a:rPr>
              <a:t>the soft routing ranking, with scores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0495" y="3182112"/>
            <a:ext cx="28465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0A6BAF"/>
                </a:solidFill>
                <a:latin typeface="Consolas"/>
              </a:rPr>
              <a:t>metrics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0495" y="3337560"/>
            <a:ext cx="28465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78788A"/>
                </a:solidFill>
                <a:latin typeface="Segoe UI"/>
              </a:rPr>
              <a:t>canonical expressions for the business terms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0495" y="3511296"/>
            <a:ext cx="28465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0A6BAF"/>
                </a:solidFill>
                <a:latin typeface="Consolas"/>
              </a:rPr>
              <a:t>cross_domain_unjoinable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0495" y="3666744"/>
            <a:ext cx="28465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78788A"/>
                </a:solidFill>
                <a:latin typeface="Segoe UI"/>
              </a:rPr>
              <a:t>a flag that stops invented joins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84463" y="4023360"/>
            <a:ext cx="3358591" cy="221284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84463" y="4023360"/>
            <a:ext cx="45720" cy="221284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40495" y="4206240"/>
            <a:ext cx="28831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11119"/>
                </a:solidFill>
                <a:latin typeface="Segoe UI"/>
              </a:rPr>
              <a:t>Why a graph, not a lookup table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0495" y="4517136"/>
            <a:ext cx="2883103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45454F"/>
                </a:solidFill>
                <a:latin typeface="Segoe UI"/>
              </a:rPr>
              <a:t>A flat metadata table can tell you a foreign key exists. It cannot tell you that customers reaches order_items through orders in two hops.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1">
                <a:solidFill>
                  <a:srgbClr val="6D00B3"/>
                </a:solidFill>
                <a:latin typeface="Segoe UI"/>
              </a:rPr>
              <a:t>Join discovery is inherently a traversal problem — so we store the schema in the one database built for traversal.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THE REASONING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The model does not answer. It investigates, then answers.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5454F"/>
                </a:solidFill>
                <a:latin typeface="Segoe UI"/>
              </a:rPr>
              <a:t>A ReAct tool-calling loop — the reasoning becomes an explicit sequence of steps rather than one opaque generation.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6446520" cy="334670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28800"/>
            <a:ext cx="5897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spc="120">
                <a:solidFill>
                  <a:srgbClr val="6D00B3"/>
                </a:solidFill>
                <a:latin typeface="Segoe UI"/>
              </a:rPr>
              <a:t>THE LOOP  ·  max 6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194560"/>
            <a:ext cx="56784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2194560"/>
            <a:ext cx="45720" cy="49377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2258568"/>
            <a:ext cx="52395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11119"/>
                </a:solidFill>
                <a:latin typeface="Segoe UI"/>
              </a:rPr>
              <a:t>Send messages to the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478024"/>
            <a:ext cx="523951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78788A"/>
                </a:solidFill>
                <a:latin typeface="Segoe UI"/>
              </a:rPr>
              <a:t>system prompt + question + every prior observation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225296" y="2702052"/>
            <a:ext cx="109728" cy="105156"/>
          </a:xfrm>
          <a:prstGeom prst="downArrow">
            <a:avLst/>
          </a:prstGeom>
          <a:solidFill>
            <a:srgbClr val="C6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2688" y="2834639"/>
            <a:ext cx="56784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688" y="2834639"/>
            <a:ext cx="45720" cy="493776"/>
          </a:xfrm>
          <a:prstGeom prst="rect">
            <a:avLst/>
          </a:prstGeom>
          <a:solidFill>
            <a:srgbClr val="A6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2144" y="2898647"/>
            <a:ext cx="52395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11119"/>
                </a:solidFill>
                <a:latin typeface="Segoe UI"/>
              </a:rPr>
              <a:t>Did the reply contain tool calls?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" y="3118103"/>
            <a:ext cx="523951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78788A"/>
                </a:solidFill>
                <a:latin typeface="Segoe UI"/>
              </a:rPr>
              <a:t>the single decision that drives the whole loop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225296" y="3342132"/>
            <a:ext cx="109728" cy="105156"/>
          </a:xfrm>
          <a:prstGeom prst="downArrow">
            <a:avLst/>
          </a:prstGeom>
          <a:solidFill>
            <a:srgbClr val="C6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" y="3474720"/>
            <a:ext cx="56784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" y="3474720"/>
            <a:ext cx="45720" cy="493776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2144" y="3538727"/>
            <a:ext cx="52395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11119"/>
                </a:solidFill>
                <a:latin typeface="Segoe UI"/>
              </a:rPr>
              <a:t>Yes → execute each tool, record a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3758183"/>
            <a:ext cx="523951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78788A"/>
                </a:solidFill>
                <a:latin typeface="Segoe UI"/>
              </a:rPr>
              <a:t>an exception becomes {"error": …} and is fed back, never a crash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225296" y="3982211"/>
            <a:ext cx="109728" cy="105156"/>
          </a:xfrm>
          <a:prstGeom prst="downArrow">
            <a:avLst/>
          </a:prstGeom>
          <a:solidFill>
            <a:srgbClr val="C6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" y="4114800"/>
            <a:ext cx="567842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" y="4114800"/>
            <a:ext cx="45720" cy="493776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2144" y="4178808"/>
            <a:ext cx="52395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11119"/>
                </a:solidFill>
                <a:latin typeface="Segoe UI"/>
              </a:rPr>
              <a:t>No → the reply text is the final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" y="4398264"/>
            <a:ext cx="523951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78788A"/>
                </a:solidFill>
                <a:latin typeface="Segoe UI"/>
              </a:rPr>
              <a:t>stopped = "final"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663440"/>
            <a:ext cx="56784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6D00B3"/>
                </a:solidFill>
                <a:latin typeface="Segoe UI"/>
              </a:rPr>
              <a:t>Otherwise, loop back to the top — with every observation appended to the conversation.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24344" y="1627632"/>
            <a:ext cx="4318711" cy="157276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24344" y="1627632"/>
            <a:ext cx="45720" cy="15727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0375" y="1810512"/>
            <a:ext cx="38432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11119"/>
                </a:solidFill>
                <a:latin typeface="Segoe UI"/>
              </a:rPr>
              <a:t>One agent, two faces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0375" y="2121408"/>
            <a:ext cx="3843223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80" b="1">
                <a:solidFill>
                  <a:srgbClr val="6D00B3"/>
                </a:solidFill>
                <a:latin typeface="Consolas"/>
              </a:rPr>
              <a:t>run_agent</a:t>
            </a:r>
            <a:r>
              <a:rPr sz="980" b="0">
                <a:solidFill>
                  <a:srgbClr val="45454F"/>
                </a:solidFill>
                <a:latin typeface="Segoe UI"/>
              </a:rPr>
              <a:t>  — the pure loop. Imports no Groq, no Neo4j, no SQLite. Tested with a scripted fake model.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80" b="1">
                <a:solidFill>
                  <a:srgbClr val="6D00B3"/>
                </a:solidFill>
                <a:latin typeface="Consolas"/>
              </a:rPr>
              <a:t>answer_question</a:t>
            </a:r>
            <a:r>
              <a:rPr sz="980" b="0">
                <a:solidFill>
                  <a:srgbClr val="45454F"/>
                </a:solidFill>
                <a:latin typeface="Segoe UI"/>
              </a:rPr>
              <a:t>  — the wiring. Binds the real model, the graph-backed tools, and the catalogue-derived prompt.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24344" y="3383280"/>
            <a:ext cx="4318711" cy="1591056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24344" y="3383280"/>
            <a:ext cx="45720" cy="1591056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0375" y="3566160"/>
            <a:ext cx="38432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11119"/>
                </a:solidFill>
                <a:latin typeface="Segoe UI"/>
              </a:rPr>
              <a:t>Why that seam matters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0375" y="3877056"/>
            <a:ext cx="3843223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80" b="0">
                <a:solidFill>
                  <a:srgbClr val="45454F"/>
                </a:solidFill>
                <a:latin typeface="Segoe UI"/>
              </a:rPr>
              <a:t>Changing LLM provider replaces one callable. Nothing in the loop changes — and the loop is the part that must not regress.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80" b="1">
                <a:solidFill>
                  <a:srgbClr val="6D00B3"/>
                </a:solidFill>
                <a:latin typeface="Segoe UI"/>
              </a:rPr>
              <a:t>It is also why 184 tests can cover the reasoning logic with no live model, no credentials and no flakiness.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102352"/>
            <a:ext cx="2609011" cy="969264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102352"/>
            <a:ext cx="2609011" cy="36576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266944"/>
            <a:ext cx="21700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11119"/>
                </a:solidFill>
                <a:latin typeface="Segoe UI"/>
              </a:rPr>
              <a:t>Read-only 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" y="5541264"/>
            <a:ext cx="217009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45454F"/>
                </a:solidFill>
                <a:latin typeface="Segoe UI"/>
              </a:rPr>
              <a:t>SELECT / WITH allowlist · single statement · writes and DDL rejected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77107" y="5102352"/>
            <a:ext cx="2609011" cy="969264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77107" y="5102352"/>
            <a:ext cx="2609011" cy="36576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96563" y="5266944"/>
            <a:ext cx="21700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11119"/>
                </a:solidFill>
                <a:latin typeface="Segoe UI"/>
              </a:rPr>
              <a:t>Read-only engine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6563" y="5541264"/>
            <a:ext cx="217009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45454F"/>
                </a:solidFill>
                <a:latin typeface="Segoe UI"/>
              </a:rPr>
              <a:t>connection opened ?mode=ro · 5 s timeout · 200-row cap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05575" y="5102352"/>
            <a:ext cx="2609011" cy="969264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05575" y="5102352"/>
            <a:ext cx="2609011" cy="36576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25031" y="5266944"/>
            <a:ext cx="21700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11119"/>
                </a:solidFill>
                <a:latin typeface="Segoe UI"/>
              </a:rPr>
              <a:t>Injection-safe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25031" y="5541264"/>
            <a:ext cx="217009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45454F"/>
                </a:solidFill>
                <a:latin typeface="Segoe UI"/>
              </a:rPr>
              <a:t>table and column names validated against schema.json before quoting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34043" y="5102352"/>
            <a:ext cx="2609011" cy="969264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34043" y="5102352"/>
            <a:ext cx="2609011" cy="36576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53499" y="5266944"/>
            <a:ext cx="217009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11119"/>
                </a:solidFill>
                <a:latin typeface="Segoe UI"/>
              </a:rPr>
              <a:t>Self-healing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53499" y="5541264"/>
            <a:ext cx="217009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>
                <a:solidFill>
                  <a:srgbClr val="45454F"/>
                </a:solidFill>
                <a:latin typeface="Segoe UI"/>
              </a:rPr>
              <a:t>a rejection returns a structured error the agent reads and reforms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OPTIMISATION 01  · 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The graph makes the model's job smaller — measurably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5454F"/>
                </a:solidFill>
                <a:latin typeface="Segoe UI"/>
              </a:rPr>
              <a:t>Retrieval replaces the whole catalogue with the slice that matters. Measured on this repository's schema.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6903720" cy="270662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47088"/>
            <a:ext cx="6355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spc="114">
                <a:solidFill>
                  <a:srgbClr val="6D00B3"/>
                </a:solidFill>
                <a:latin typeface="Segoe UI"/>
              </a:rPr>
              <a:t>SCHEMA PAYLOAD SENT TO THE MODEL, PER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86000"/>
            <a:ext cx="4800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11119"/>
                </a:solidFill>
                <a:latin typeface="Segoe UI"/>
              </a:rPr>
              <a:t>Whole catalogue in the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96312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78788A"/>
                </a:solidFill>
                <a:latin typeface="Segoe UI"/>
              </a:rPr>
              <a:t>50 tables · 373 columns · 40,897 characters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" y="2743200"/>
            <a:ext cx="4800600" cy="237744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59" y="2743200"/>
            <a:ext cx="4800600" cy="237744"/>
          </a:xfrm>
          <a:prstGeom prst="rect">
            <a:avLst/>
          </a:prstGeom>
          <a:solidFill>
            <a:srgbClr val="B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9864" y="268833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119"/>
                </a:solidFill>
                <a:latin typeface="Segoe UI"/>
              </a:rPr>
              <a:t>10,224</a:t>
            </a:r>
            <a:r>
              <a:rPr sz="900" b="0">
                <a:solidFill>
                  <a:srgbClr val="78788A"/>
                </a:solidFill>
                <a:latin typeface="Segoe UI"/>
              </a:rPr>
              <a:t>  tok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255264"/>
            <a:ext cx="4800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11119"/>
                </a:solidFill>
                <a:latin typeface="Segoe UI"/>
              </a:rPr>
              <a:t>Graph-retrieved slice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465576"/>
            <a:ext cx="4800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78788A"/>
                </a:solidFill>
                <a:latin typeface="Segoe UI"/>
              </a:rPr>
              <a:t>8 tables · ~59 columns · ~6,621 characters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" y="3712464"/>
            <a:ext cx="4800600" cy="237744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59" y="3712464"/>
            <a:ext cx="777092" cy="237744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9864" y="365760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119"/>
                </a:solidFill>
                <a:latin typeface="Segoe UI"/>
              </a:rPr>
              <a:t>1,655</a:t>
            </a:r>
            <a:r>
              <a:rPr sz="900" b="0">
                <a:solidFill>
                  <a:srgbClr val="78788A"/>
                </a:solidFill>
                <a:latin typeface="Segoe UI"/>
              </a:rPr>
              <a:t>  tok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" y="3986784"/>
            <a:ext cx="6355080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078224"/>
            <a:ext cx="6355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7C63"/>
                </a:solidFill>
                <a:latin typeface="Segoe UI"/>
              </a:rPr>
              <a:t>83.8% of the schema context removed  ·  6.2× smaller payload</a:t>
            </a:r>
            <a:r>
              <a:rPr sz="860" b="0">
                <a:solidFill>
                  <a:srgbClr val="78788A"/>
                </a:solidFill>
                <a:latin typeface="Segoe UI"/>
              </a:rPr>
              <a:t>     token estimate = characters ÷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81544" y="1627632"/>
            <a:ext cx="3861511" cy="64008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81544" y="1627632"/>
            <a:ext cx="45720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1709928"/>
            <a:ext cx="34225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11119"/>
                </a:solidFill>
                <a:latin typeface="Segoe UI"/>
              </a:rPr>
              <a:t>Higher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1929384"/>
            <a:ext cx="34225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>
                <a:solidFill>
                  <a:srgbClr val="45454F"/>
                </a:solidFill>
                <a:latin typeface="Segoe UI"/>
              </a:rPr>
              <a:t>Fewer candidate columns means fewer ways to be plausibly wrong. Attention lands on relevant schema.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81544" y="2322576"/>
            <a:ext cx="3861511" cy="64008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81544" y="2322576"/>
            <a:ext cx="45720" cy="640080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2404872"/>
            <a:ext cx="34225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11119"/>
                </a:solidFill>
                <a:latin typeface="Segoe UI"/>
              </a:rPr>
              <a:t>Lower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624328"/>
            <a:ext cx="34225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>
                <a:solidFill>
                  <a:srgbClr val="45454F"/>
                </a:solidFill>
                <a:latin typeface="Segoe UI"/>
              </a:rPr>
              <a:t>A smaller prompt is a faster first token — and the loop may run up to 6 model calls per question.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81544" y="3017520"/>
            <a:ext cx="3861511" cy="64008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81544" y="3017520"/>
            <a:ext cx="45720" cy="640080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3099815"/>
            <a:ext cx="34225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11119"/>
                </a:solidFill>
                <a:latin typeface="Segoe UI"/>
              </a:rPr>
              <a:t>Lower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319272"/>
            <a:ext cx="34225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>
                <a:solidFill>
                  <a:srgbClr val="45454F"/>
                </a:solidFill>
                <a:latin typeface="Segoe UI"/>
              </a:rPr>
              <a:t>Token spend falls with the payload, on every call in every step of every question.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81544" y="3712464"/>
            <a:ext cx="3861511" cy="64008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81544" y="3712464"/>
            <a:ext cx="45720" cy="640080"/>
          </a:xfrm>
          <a:prstGeom prst="rect">
            <a:avLst/>
          </a:prstGeom>
          <a:solidFill>
            <a:srgbClr val="A6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3794760"/>
            <a:ext cx="34225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111119"/>
                </a:solidFill>
                <a:latin typeface="Segoe UI"/>
              </a:rPr>
              <a:t>Room to grow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014216"/>
            <a:ext cx="34225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>
                <a:solidFill>
                  <a:srgbClr val="45454F"/>
                </a:solidFill>
                <a:latin typeface="Segoe UI"/>
              </a:rPr>
              <a:t>At 500 tables the naive prompt stops fitting. Retrieval returns 8 tables either way.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498848"/>
            <a:ext cx="11094415" cy="1170432"/>
          </a:xfrm>
          <a:prstGeom prst="rect">
            <a:avLst/>
          </a:prstGeom>
          <a:solidFill>
            <a:srgbClr val="EFEFF4"/>
          </a:solidFill>
          <a:ln w="1778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4498848"/>
            <a:ext cx="50292" cy="11704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4681728"/>
            <a:ext cx="104543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spc="120">
                <a:solidFill>
                  <a:srgbClr val="6D00B3"/>
                </a:solidFill>
                <a:latin typeface="Segoe UI"/>
              </a:rPr>
              <a:t>THE SCALING ARGUMENT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" y="4974336"/>
            <a:ext cx="104543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40" b="0">
                <a:solidFill>
                  <a:srgbClr val="45454F"/>
                </a:solidFill>
                <a:latin typeface="Segoe UI"/>
              </a:rPr>
              <a:t>The naive approach degrades as the estate grows — more tables means a longer prompt, more distractors and worse SQL. </a:t>
            </a:r>
            <a:r>
              <a:rPr sz="1140" b="1">
                <a:solidFill>
                  <a:srgbClr val="111119"/>
                </a:solidFill>
                <a:latin typeface="Segoe UI"/>
              </a:rPr>
              <a:t>Graph retrieval is flat: it returns the top 8 tables whether the catalogue holds 50 or 5,000. The cost of scale moves out of the prompt and into an indexed vector search.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OPTIMISATION 02  ·  CORRECTNESS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The semantic layer: what the business means by “revenue”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5454F"/>
                </a:solidFill>
                <a:latin typeface="Segoe UI"/>
              </a:rPr>
              <a:t>Two columns are numeric, plausible and named like money. Only one is revenue — and the graph knows which.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6903720" cy="234086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47088"/>
            <a:ext cx="6355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spc="114">
                <a:solidFill>
                  <a:srgbClr val="BE2F2A"/>
                </a:solidFill>
                <a:latin typeface="Segoe UI"/>
              </a:rPr>
              <a:t>A LIVE AMBIGUITY IN THIS SCHEMA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59" y="2249424"/>
            <a:ext cx="63550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59" y="2249424"/>
            <a:ext cx="45720" cy="603504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340864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111119"/>
                </a:solidFill>
                <a:latin typeface="Consolas"/>
              </a:rPr>
              <a:t>order_items.line_total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" y="2578608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78788A"/>
                </a:solidFill>
                <a:latin typeface="Segoe UI"/>
              </a:rPr>
              <a:t>the canonical revenue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39572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11119"/>
                </a:solidFill>
                <a:latin typeface="Segoe UI"/>
              </a:rPr>
              <a:t>$7,782,964.89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5624" y="2423160"/>
            <a:ext cx="95097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B7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0B7C63"/>
                </a:solidFill>
                <a:latin typeface="Segoe UI"/>
              </a:rPr>
              <a:t>CORRECT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2980944"/>
            <a:ext cx="63550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" y="2980944"/>
            <a:ext cx="45720" cy="603504"/>
          </a:xfrm>
          <a:prstGeom prst="rect">
            <a:avLst/>
          </a:prstGeom>
          <a:solidFill>
            <a:srgbClr val="B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072384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111119"/>
                </a:solidFill>
                <a:latin typeface="Consolas"/>
              </a:rPr>
              <a:t>invoices.amount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" y="3310127"/>
            <a:ext cx="2651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78788A"/>
                </a:solidFill>
                <a:latin typeface="Segoe UI"/>
              </a:rPr>
              <a:t>invoiced to date — a different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12724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11119"/>
                </a:solidFill>
                <a:latin typeface="Segoe UI"/>
              </a:rPr>
              <a:t>$2,030,281.53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5624" y="3154679"/>
            <a:ext cx="95097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2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BE2F2A"/>
                </a:solidFill>
                <a:latin typeface="Segoe UI"/>
              </a:rPr>
              <a:t>WRONG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657600"/>
            <a:ext cx="6355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A65E0A"/>
                </a:solidFill>
                <a:latin typeface="Segoe UI"/>
              </a:rPr>
              <a:t>A 3.8× error — well-formed SQL, confidently returned, silently wrong.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81544" y="1627632"/>
            <a:ext cx="3861511" cy="234086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81544" y="1627632"/>
            <a:ext cx="45720" cy="2340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7575" y="1810512"/>
            <a:ext cx="33860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11119"/>
                </a:solidFill>
                <a:latin typeface="Segoe UI"/>
              </a:rPr>
              <a:t>How the graph settles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7575" y="2121408"/>
            <a:ext cx="3386023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19" b="0">
                <a:solidFill>
                  <a:srgbClr val="45454F"/>
                </a:solidFill>
                <a:latin typeface="Segoe UI"/>
              </a:rPr>
              <a:t>13 canonical metrics are stored as </a:t>
            </a:r>
            <a:r>
              <a:rPr sz="1019" b="1">
                <a:solidFill>
                  <a:srgbClr val="6D00B3"/>
                </a:solidFill>
                <a:latin typeface="Consolas"/>
              </a:rPr>
              <a:t>:Metric</a:t>
            </a:r>
            <a:r>
              <a:rPr sz="1019" b="0">
                <a:solidFill>
                  <a:srgbClr val="45454F"/>
                </a:solidFill>
                <a:latin typeface="Segoe UI"/>
              </a:rPr>
              <a:t> nodes holding the exact SQL expression and the tables it belongs to.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19" b="0">
                <a:solidFill>
                  <a:srgbClr val="45454F"/>
                </a:solidFill>
                <a:latin typeface="Segoe UI"/>
              </a:rPr>
              <a:t>Retrieval attaches any metric whose tables intersect the retrieved set, and the system prompt instructs the model to use the expression verbatim — never a similar-looking column.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87952"/>
            <a:ext cx="11094415" cy="197510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4389120"/>
            <a:ext cx="10545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spc="114">
                <a:solidFill>
                  <a:srgbClr val="6D00B3"/>
                </a:solidFill>
                <a:latin typeface="Segoe UI"/>
              </a:rPr>
              <a:t>THE METRIC GLOSSARY  ·  GOVERNED, VERSIONED, SINGLE-SOURCED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736592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11119"/>
                </a:solidFill>
                <a:latin typeface="Segoe UI"/>
              </a:rPr>
              <a:t>total 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35808" y="4745736"/>
            <a:ext cx="82597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0A6BAF"/>
                </a:solidFill>
                <a:latin typeface="Consolas"/>
              </a:rPr>
              <a:t>SUM(order_items.line_total)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50292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11119"/>
                </a:solidFill>
                <a:latin typeface="Segoe UI"/>
              </a:rPr>
              <a:t>average order 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5038344"/>
            <a:ext cx="82597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0A6BAF"/>
                </a:solidFill>
                <a:latin typeface="Consolas"/>
              </a:rPr>
              <a:t>SUM(order_items.line_total) / COUNT(DISTINCT order_items.order_id)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5321807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11119"/>
                </a:solidFill>
                <a:latin typeface="Segoe UI"/>
              </a:rPr>
              <a:t>gross margin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5808" y="5330951"/>
            <a:ext cx="82597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0A6BAF"/>
                </a:solidFill>
                <a:latin typeface="Consolas"/>
              </a:rPr>
              <a:t>SUM((order_items.unit_price - products.cost_price) * order_items.quantity)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5614416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11119"/>
                </a:solidFill>
                <a:latin typeface="Segoe UI"/>
              </a:rPr>
              <a:t>target attainment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35808" y="5623559"/>
            <a:ext cx="82597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0A6BAF"/>
                </a:solidFill>
                <a:latin typeface="Consolas"/>
              </a:rPr>
              <a:t>SUM(sales_targets.achieved_amount) / SUM(sales_targets.target_amount)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59" y="5870448"/>
            <a:ext cx="10545775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5943600"/>
            <a:ext cx="105457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78788A"/>
                </a:solidFill>
                <a:latin typeface="Segoe UI"/>
              </a:rPr>
              <a:t>Defined once in schema.json, enforced everywhere. Changing a business definition is a catalogue edit — not a prompt rewrite.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OPTIMISATION 03  ·  JOINS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Join discovery becomes a graph traversal, not a guess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5454F"/>
                </a:solidFill>
                <a:latin typeface="Segoe UI"/>
              </a:rPr>
              <a:t>The one place where using a graph database is not a preference but the correct data 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5382615" cy="193852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27632"/>
            <a:ext cx="5382615" cy="45720"/>
          </a:xfrm>
          <a:prstGeom prst="rect">
            <a:avLst/>
          </a:prstGeom>
          <a:solidFill>
            <a:srgbClr val="BE2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65376"/>
            <a:ext cx="48339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spc="114">
                <a:solidFill>
                  <a:srgbClr val="BE2F2A"/>
                </a:solidFill>
                <a:latin typeface="Segoe UI"/>
              </a:rPr>
              <a:t>THE MODEL INFERS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21408"/>
            <a:ext cx="4833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11119"/>
                </a:solidFill>
                <a:latin typeface="Segoe UI"/>
              </a:rPr>
              <a:t>Without a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523744"/>
            <a:ext cx="4833975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45454F"/>
                </a:solidFill>
                <a:latin typeface="Segoe UI"/>
              </a:rPr>
              <a:t>It sees column names and reasons by resemblance. customer_id in two tables probably joins. Sometimes it is right. When it is wrong, the SQL still runs and returns a number that looks reasonable — the most dangerous failure mode there 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0439" y="1627632"/>
            <a:ext cx="5382615" cy="193852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0439" y="1627632"/>
            <a:ext cx="5382615" cy="45720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4759" y="1865376"/>
            <a:ext cx="48339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spc="114">
                <a:solidFill>
                  <a:srgbClr val="0B7C63"/>
                </a:solidFill>
                <a:latin typeface="Segoe UI"/>
              </a:rPr>
              <a:t>THE SYSTEM RESOLVES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2121408"/>
            <a:ext cx="4833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11119"/>
                </a:solidFill>
                <a:latin typeface="Segoe UI"/>
              </a:rPr>
              <a:t>With the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759" y="2523744"/>
            <a:ext cx="4833975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45454F"/>
                </a:solidFill>
                <a:latin typeface="Segoe UI"/>
              </a:rPr>
              <a:t>shortestPath over :REFERENCES between the seed tables, bounded to 3 hops. Returns the actual join columns, stored from the foreign keys the catalogue declares. Nothing is inferred, so nothing can be invented.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67328"/>
            <a:ext cx="11094415" cy="1188720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950208"/>
            <a:ext cx="1054577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spc="110">
                <a:solidFill>
                  <a:srgbClr val="6D00B3"/>
                </a:solidFill>
                <a:latin typeface="Segoe UI"/>
              </a:rPr>
              <a:t>A WORKED TRAVERSAL  ·  “revenue by customer segment” seeds two tables three hops apart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" y="4315968"/>
            <a:ext cx="14813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6B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960" b="1">
                <a:solidFill>
                  <a:srgbClr val="0A6BAF"/>
                </a:solidFill>
                <a:latin typeface="Consolas"/>
              </a:rPr>
              <a:t>customers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395728" y="4434840"/>
            <a:ext cx="182880" cy="128016"/>
          </a:xfrm>
          <a:prstGeom prst="right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33472" y="4370832"/>
            <a:ext cx="263027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0">
                <a:solidFill>
                  <a:srgbClr val="78788A"/>
                </a:solidFill>
                <a:latin typeface="Consolas"/>
              </a:rPr>
              <a:t>orders.customer_id  =  customers.customer_id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55183" y="4315968"/>
            <a:ext cx="14813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6B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960" b="1">
                <a:solidFill>
                  <a:srgbClr val="0A6BAF"/>
                </a:solidFill>
                <a:latin typeface="Consolas"/>
              </a:rPr>
              <a:t>orders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891375" y="4434840"/>
            <a:ext cx="182880" cy="128016"/>
          </a:xfrm>
          <a:prstGeom prst="right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9119" y="4370832"/>
            <a:ext cx="263027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0">
                <a:solidFill>
                  <a:srgbClr val="78788A"/>
                </a:solidFill>
                <a:latin typeface="Consolas"/>
              </a:rPr>
              <a:t>order_items.order_id  =  orders.order_id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50831" y="4315968"/>
            <a:ext cx="148132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6B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960" b="1">
                <a:solidFill>
                  <a:srgbClr val="0A6BAF"/>
                </a:solidFill>
                <a:latin typeface="Consolas"/>
              </a:rPr>
              <a:t>order_items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736592"/>
            <a:ext cx="104726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45454F"/>
                </a:solidFill>
                <a:latin typeface="Segoe UI"/>
              </a:rPr>
              <a:t>The model receives these two conditions as fact, in the prompt, before it writes any SQL.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57216"/>
            <a:ext cx="3551834" cy="98755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157216"/>
            <a:ext cx="45720" cy="987552"/>
          </a:xfrm>
          <a:prstGeom prst="rect">
            <a:avLst/>
          </a:prstGeom>
          <a:solidFill>
            <a:srgbClr val="A6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303520"/>
            <a:ext cx="30946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11119"/>
                </a:solidFill>
                <a:latin typeface="Segoe UI"/>
              </a:rPr>
              <a:t>Fan-out warnings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577840"/>
            <a:ext cx="309463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19" b="0">
                <a:solidFill>
                  <a:srgbClr val="45454F"/>
                </a:solidFill>
                <a:latin typeface="Segoe UI"/>
              </a:rPr>
              <a:t>Edges carry cardinality. On a many-to-one join the prompt warns that aggregating will double-count, and suggests COUNT(DISTINCT) or pre-aggregation.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9930" y="5157216"/>
            <a:ext cx="3551834" cy="98755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9930" y="5157216"/>
            <a:ext cx="45720" cy="987552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7674" y="5303520"/>
            <a:ext cx="30946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11119"/>
                </a:solidFill>
                <a:latin typeface="Segoe UI"/>
              </a:rPr>
              <a:t>Self-joins surfaced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7674" y="5577840"/>
            <a:ext cx="309463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19" b="0">
                <a:solidFill>
                  <a:srgbClr val="45454F"/>
                </a:solidFill>
                <a:latin typeface="Segoe UI"/>
              </a:rPr>
              <a:t>employees.manager_id → employees.employee_id and the category hierarchy are found explicitly — pairwise paths between distinct tables would miss them.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91220" y="5157216"/>
            <a:ext cx="3551834" cy="98755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1220" y="5157216"/>
            <a:ext cx="45720" cy="987552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8964" y="5303520"/>
            <a:ext cx="30946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11119"/>
                </a:solidFill>
                <a:latin typeface="Segoe UI"/>
              </a:rPr>
              <a:t>Honest refusal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8964" y="5577840"/>
            <a:ext cx="309463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19" b="0">
                <a:solidFill>
                  <a:srgbClr val="45454F"/>
                </a:solidFill>
                <a:latin typeface="Segoe UI"/>
              </a:rPr>
              <a:t>When retrieved tables span domains with no join key, the context says so and instructs the model to answer separately rather than fabricate a link.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TRUST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An answer a leader can act on has to show its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5454F"/>
                </a:solidFill>
                <a:latin typeface="Segoe UI"/>
              </a:rPr>
              <a:t>Four independent mechanisms, none of which depends on trusting the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2609011" cy="221284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27632"/>
            <a:ext cx="2609011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88366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A100FF"/>
                </a:solidFill>
                <a:latin typeface="Segoe UI Ligh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231136"/>
            <a:ext cx="21518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40" b="1">
                <a:solidFill>
                  <a:srgbClr val="111119"/>
                </a:solidFill>
                <a:latin typeface="Segoe UI"/>
              </a:rPr>
              <a:t>The reasoning trace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615184"/>
            <a:ext cx="2151811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>
                <a:solidFill>
                  <a:srgbClr val="45454F"/>
                </a:solidFill>
                <a:latin typeface="Segoe UI"/>
              </a:rPr>
              <a:t>Every tool call is recorded as a Step — which tables were discovered, what SQL was attempted, where the agent corrected itself. Returned with every response and rendered live in the UI.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7107" y="1627632"/>
            <a:ext cx="2609011" cy="221284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77107" y="1627632"/>
            <a:ext cx="2609011" cy="45720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4851" y="188366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7C63"/>
                </a:solidFill>
                <a:latin typeface="Segoe UI Ligh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4851" y="2231136"/>
            <a:ext cx="21518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40" b="1">
                <a:solidFill>
                  <a:srgbClr val="111119"/>
                </a:solidFill>
                <a:latin typeface="Segoe UI"/>
              </a:rPr>
              <a:t>Deterministic grounding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4851" y="2615184"/>
            <a:ext cx="2151811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>
                <a:solidFill>
                  <a:srgbClr val="45454F"/>
                </a:solidFill>
                <a:latin typeface="Segoe UI"/>
              </a:rPr>
              <a:t>After the answer is produced, the figures it states are matched against the returned rows. Zero extra model calls, fully deterministic.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5575" y="1627632"/>
            <a:ext cx="2609011" cy="221284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5575" y="1627632"/>
            <a:ext cx="2609011" cy="45720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188366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6BAF"/>
                </a:solidFill>
                <a:latin typeface="Segoe UI Ligh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2231136"/>
            <a:ext cx="21518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40" b="1">
                <a:solidFill>
                  <a:srgbClr val="111119"/>
                </a:solidFill>
                <a:latin typeface="Segoe UI"/>
              </a:rPr>
              <a:t>Honest success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3319" y="2615184"/>
            <a:ext cx="2151811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>
                <a:solidFill>
                  <a:srgbClr val="45454F"/>
                </a:solidFill>
                <a:latin typeface="Segoe UI"/>
              </a:rPr>
              <a:t>The success flag is true only when the run reached a conclusive answer that actually executed SQL. A step-exhausted run reports itself as unresolved.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4043" y="1627632"/>
            <a:ext cx="2609011" cy="2212848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34043" y="1627632"/>
            <a:ext cx="2609011" cy="45720"/>
          </a:xfrm>
          <a:prstGeom prst="rect">
            <a:avLst/>
          </a:prstGeom>
          <a:solidFill>
            <a:srgbClr val="A6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1787" y="188366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A65E0A"/>
                </a:solidFill>
                <a:latin typeface="Segoe UI Light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1787" y="2231136"/>
            <a:ext cx="21518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40" b="1">
                <a:solidFill>
                  <a:srgbClr val="111119"/>
                </a:solidFill>
                <a:latin typeface="Segoe UI"/>
              </a:rPr>
              <a:t>Graceful failure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1787" y="2615184"/>
            <a:ext cx="2151811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980" b="0">
                <a:solidFill>
                  <a:srgbClr val="45454F"/>
                </a:solidFill>
                <a:latin typeface="Segoe UI"/>
              </a:rPr>
              <a:t>Neo4j paused, Groq rate-limited or credentials missing return a classified, human-readable envelope. A stack trace never reaches the user.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41648"/>
            <a:ext cx="6903720" cy="1645920"/>
          </a:xfrm>
          <a:prstGeom prst="rect">
            <a:avLst/>
          </a:prstGeom>
          <a:solidFill>
            <a:srgbClr val="EFEFF4"/>
          </a:solidFill>
          <a:ln w="17780">
            <a:solidFill>
              <a:srgbClr val="0B7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041648"/>
            <a:ext cx="50292" cy="1645920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4242816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spc="114">
                <a:solidFill>
                  <a:srgbClr val="0B7C63"/>
                </a:solidFill>
                <a:latin typeface="Segoe UI"/>
              </a:rPr>
              <a:t>GROUNDING  ·  ADVISORY BY DESIGN, NOT A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4553712"/>
            <a:ext cx="640080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40" b="0">
                <a:solidFill>
                  <a:srgbClr val="45454F"/>
                </a:solidFill>
                <a:latin typeface="Segoe UI"/>
              </a:rPr>
              <a:t>The check is deliberately never allowed to block an answer. It false-negatives on derived figures a correct answer computes but no single cell contains — “4.06 orders per customer”, for instance. </a:t>
            </a:r>
            <a:r>
              <a:rPr sz="1040" b="1">
                <a:solidFill>
                  <a:srgbClr val="111119"/>
                </a:solidFill>
                <a:latin typeface="Segoe UI"/>
              </a:rPr>
              <a:t>So it is surfaced as an “unverified against data” caveat, and the eval harness measures its false-negative rate rather than trusting it blindly.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81544" y="4041648"/>
            <a:ext cx="3861511" cy="164592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37575" y="4242816"/>
            <a:ext cx="33494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spc="114">
                <a:solidFill>
                  <a:srgbClr val="6D00B3"/>
                </a:solidFill>
                <a:latin typeface="Segoe UI"/>
              </a:rPr>
              <a:t>WHAT COMES BACK, EVERY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37575" y="4553712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0A6BAF"/>
                </a:solidFill>
                <a:latin typeface="Consolas"/>
              </a:rPr>
              <a:t>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3767" y="4553712"/>
            <a:ext cx="1813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45454F"/>
                </a:solidFill>
                <a:latin typeface="Segoe UI"/>
              </a:rPr>
              <a:t>plain-language 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37575" y="477316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0A6BAF"/>
                </a:solidFill>
                <a:latin typeface="Consolas"/>
              </a:rPr>
              <a:t>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3767" y="4773168"/>
            <a:ext cx="1813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45454F"/>
                </a:solidFill>
                <a:latin typeface="Segoe UI"/>
              </a:rPr>
              <a:t>the exact query executed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37575" y="4992624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0A6BAF"/>
                </a:solidFill>
                <a:latin typeface="Consolas"/>
              </a:rPr>
              <a:t>rows / columns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73767" y="4992624"/>
            <a:ext cx="1813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45454F"/>
                </a:solidFill>
                <a:latin typeface="Segoe UI"/>
              </a:rPr>
              <a:t>the data behind 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37575" y="5212080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0A6BAF"/>
                </a:solidFill>
                <a:latin typeface="Consolas"/>
              </a:rPr>
              <a:t>trace[]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73767" y="5212080"/>
            <a:ext cx="1813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45454F"/>
                </a:solidFill>
                <a:latin typeface="Segoe UI"/>
              </a:rPr>
              <a:t>every reasoning step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37575" y="5431536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0A6BAF"/>
                </a:solidFill>
                <a:latin typeface="Consolas"/>
              </a:rPr>
              <a:t>grounded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7" y="5431536"/>
            <a:ext cx="18132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45454F"/>
                </a:solidFill>
                <a:latin typeface="Segoe UI"/>
              </a:rPr>
              <a:t>verified · or caveated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MEASURABLE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“Accurate” is only a claim until it is falsifiable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5454F"/>
                </a:solidFill>
                <a:latin typeface="Segoe UI"/>
              </a:rPr>
              <a:t>An offline evaluation harness makes answer quality a number we can regression-test.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2609011" cy="1591056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27632"/>
            <a:ext cx="2609011" cy="45720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01952"/>
            <a:ext cx="21700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11119"/>
                </a:solidFill>
                <a:latin typeface="Segoe U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68880"/>
            <a:ext cx="21700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110">
                <a:solidFill>
                  <a:srgbClr val="6D00B3"/>
                </a:solidFill>
                <a:latin typeface="Segoe UI"/>
              </a:rPr>
              <a:t>GOLD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88336"/>
            <a:ext cx="217009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19" b="0">
                <a:solidFill>
                  <a:srgbClr val="78788A"/>
                </a:solidFill>
                <a:latin typeface="Segoe UI"/>
              </a:rPr>
              <a:t>Committed expected values across all five domains, including every known trap.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7107" y="1627632"/>
            <a:ext cx="2609011" cy="1591056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77107" y="1627632"/>
            <a:ext cx="2609011" cy="45720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6563" y="1901952"/>
            <a:ext cx="21700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11119"/>
                </a:solidFill>
                <a:latin typeface="Segoe UI"/>
              </a:rPr>
              <a:t>184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6563" y="2468880"/>
            <a:ext cx="21700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110">
                <a:solidFill>
                  <a:srgbClr val="0A6BAF"/>
                </a:solidFill>
                <a:latin typeface="Segoe UI"/>
              </a:rPr>
              <a:t>AUTOMATED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6563" y="2688336"/>
            <a:ext cx="217009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19" b="0">
                <a:solidFill>
                  <a:srgbClr val="78788A"/>
                </a:solidFill>
                <a:latin typeface="Segoe UI"/>
              </a:rPr>
              <a:t>The loop, tools, retriever, scoring and grounding — all covered.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5575" y="1627632"/>
            <a:ext cx="2609011" cy="1591056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5575" y="1627632"/>
            <a:ext cx="2609011" cy="45720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901952"/>
            <a:ext cx="21700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11119"/>
                </a:solidFill>
                <a:latin typeface="Segoe U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5031" y="2468880"/>
            <a:ext cx="21700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110">
                <a:solidFill>
                  <a:srgbClr val="0B7C63"/>
                </a:solidFill>
                <a:latin typeface="Segoe UI"/>
              </a:rPr>
              <a:t>LIVE CALLS NEEDED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031" y="2688336"/>
            <a:ext cx="217009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19" b="0">
                <a:solidFill>
                  <a:srgbClr val="78788A"/>
                </a:solidFill>
                <a:latin typeface="Segoe UI"/>
              </a:rPr>
              <a:t>A scripted fake model runs the harness deterministically in CI.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4043" y="1627632"/>
            <a:ext cx="2609011" cy="1591056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34043" y="1627632"/>
            <a:ext cx="2609011" cy="45720"/>
          </a:xfrm>
          <a:prstGeom prst="rect">
            <a:avLst/>
          </a:prstGeom>
          <a:solidFill>
            <a:srgbClr val="A6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499" y="1901952"/>
            <a:ext cx="217009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11119"/>
                </a:solidFill>
                <a:latin typeface="Segoe UI"/>
              </a:rPr>
              <a:t>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499" y="2468880"/>
            <a:ext cx="217009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spc="110">
                <a:solidFill>
                  <a:srgbClr val="A65E0A"/>
                </a:solidFill>
                <a:latin typeface="Segoe UI"/>
              </a:rPr>
              <a:t>FIXED DATA SEED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499" y="2688336"/>
            <a:ext cx="217009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19" b="0">
                <a:solidFill>
                  <a:srgbClr val="78788A"/>
                </a:solidFill>
                <a:latin typeface="Segoe UI"/>
              </a:rPr>
              <a:t>A determinism gate fails loudly if generated data ever drifts.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438144"/>
            <a:ext cx="5440680" cy="224942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438144"/>
            <a:ext cx="45720" cy="224942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621024"/>
            <a:ext cx="4965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11119"/>
                </a:solidFill>
                <a:latin typeface="Segoe UI"/>
              </a:rPr>
              <a:t>How the ruler 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3931920"/>
            <a:ext cx="4965192" cy="1609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19" b="1">
                <a:solidFill>
                  <a:srgbClr val="6D00B3"/>
                </a:solidFill>
                <a:latin typeface="Consolas"/>
              </a:rPr>
              <a:t>result_match</a:t>
            </a:r>
            <a:r>
              <a:rPr sz="1019" b="0">
                <a:solidFill>
                  <a:srgbClr val="45454F"/>
                </a:solidFill>
                <a:latin typeface="Segoe UI"/>
              </a:rPr>
              <a:t> scores values as a tolerant multiset: it ignores column aliases, row order, INTEGER-vs-REAL and formatting.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19" b="1">
                <a:solidFill>
                  <a:srgbClr val="111119"/>
                </a:solidFill>
                <a:latin typeface="Segoe UI"/>
              </a:rPr>
              <a:t>Right answer, wrong shape counts as a match — a ruler that failed those would mis-rank every downstream fix.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19" b="0">
                <a:solidFill>
                  <a:srgbClr val="45454F"/>
                </a:solidFill>
                <a:latin typeface="Segoe UI"/>
              </a:rPr>
              <a:t>Wrong answer still fails: the revenue trap is rejected outright. Adversarial pairs are themselves unit-tested.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18503" y="3438144"/>
            <a:ext cx="5324551" cy="2249424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18503" y="3438144"/>
            <a:ext cx="45720" cy="2249424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74536" y="3621024"/>
            <a:ext cx="4849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11119"/>
                </a:solidFill>
                <a:latin typeface="Segoe UI"/>
              </a:rPr>
              <a:t>What the harness protects against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4536" y="4005072"/>
            <a:ext cx="48124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Silent data drift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74536" y="4197096"/>
            <a:ext cx="4812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5454F"/>
                </a:solidFill>
                <a:latin typeface="Segoe UI"/>
              </a:rPr>
              <a:t>Every gold SQL is re-run against the tracked database on each test run.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74536" y="4425696"/>
            <a:ext cx="48124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Prompt regressions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4536" y="4617720"/>
            <a:ext cx="4812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5454F"/>
                </a:solidFill>
                <a:latin typeface="Segoe UI"/>
              </a:rPr>
              <a:t>Prompt changes on a 70B model can hurt as easily as help — the harness A/Bs them.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4536" y="4846320"/>
            <a:ext cx="48124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Over-claiming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4536" y="5038344"/>
            <a:ext cx="4812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5454F"/>
                </a:solidFill>
                <a:latin typeface="Segoe UI"/>
              </a:rPr>
              <a:t>Cross-domain questions are scored on graceful refusal, not on producing a number.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74536" y="5266944"/>
            <a:ext cx="48124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11119"/>
                </a:solidFill>
                <a:latin typeface="Segoe UI"/>
              </a:rPr>
              <a:t>Metric substitution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74536" y="5458968"/>
            <a:ext cx="4812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5454F"/>
                </a:solidFill>
                <a:latin typeface="Segoe UI"/>
              </a:rPr>
              <a:t>The revenue trap is a permanent, committed test case.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One question,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5454F"/>
                </a:solidFill>
                <a:latin typeface="Segoe UI"/>
              </a:rPr>
              <a:t>Exactly what the user sees, and exactly what the system did to earn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11094415" cy="603504"/>
          </a:xfrm>
          <a:prstGeom prst="rect">
            <a:avLst/>
          </a:prstGeom>
          <a:solidFill>
            <a:srgbClr val="EFEFF4"/>
          </a:solidFill>
          <a:ln w="1778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27632"/>
            <a:ext cx="50292" cy="6035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7465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spc="114">
                <a:solidFill>
                  <a:srgbClr val="6D00B3"/>
                </a:solidFill>
                <a:latin typeface="Segoe UI"/>
              </a:rPr>
              <a:t>ASKED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3936" y="1764792"/>
            <a:ext cx="95399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119"/>
                </a:solidFill>
                <a:latin typeface="Segoe UI"/>
              </a:rPr>
              <a:t>“What was total revenue by region last quarter?”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32304"/>
            <a:ext cx="7818120" cy="64008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32304"/>
            <a:ext cx="45720" cy="640080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551176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spc="90">
                <a:solidFill>
                  <a:srgbClr val="78788A"/>
                </a:solidFill>
                <a:latin typeface="Segoe UI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761488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6D00B3"/>
                </a:solidFill>
                <a:latin typeface="Consolas"/>
              </a:rPr>
              <a:t>get_schema_context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560320"/>
            <a:ext cx="38404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45454F"/>
                </a:solidFill>
                <a:latin typeface="Segoe UI"/>
              </a:rPr>
              <a:t>Routes to the Sales domain. Seeds order_items, orders, customers, regions. Walks :REFERENCES for the join keys. Attaches the total revenue metric.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56831" y="2624328"/>
            <a:ext cx="159105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D00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6D00B3"/>
                </a:solidFill>
                <a:latin typeface="Segoe UI"/>
              </a:rPr>
              <a:t>4 tables · 3 joins · 1 metric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63824"/>
            <a:ext cx="7818120" cy="64008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163824"/>
            <a:ext cx="45720" cy="640080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282696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spc="90">
                <a:solidFill>
                  <a:srgbClr val="78788A"/>
                </a:solidFill>
                <a:latin typeface="Segoe UI"/>
              </a:rP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493008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0A6BAF"/>
                </a:solidFill>
                <a:latin typeface="Consolas"/>
              </a:rPr>
              <a:t>sample_values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3291840"/>
            <a:ext cx="38404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45454F"/>
                </a:solidFill>
                <a:latin typeface="Segoe UI"/>
              </a:rPr>
              <a:t>Reads the distinct values of regions.region_name so the filter uses a real literal rather than a guessed one.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56831" y="3355848"/>
            <a:ext cx="159105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A6B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0A6BAF"/>
                </a:solidFill>
                <a:latin typeface="Segoe UI"/>
              </a:rPr>
              <a:t>6 values returned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95344"/>
            <a:ext cx="7818120" cy="64008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895344"/>
            <a:ext cx="45720" cy="640080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014215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spc="90">
                <a:solidFill>
                  <a:srgbClr val="78788A"/>
                </a:solidFill>
                <a:latin typeface="Segoe UI"/>
              </a:rPr>
              <a:t>STEP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224528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0A6BAF"/>
                </a:solidFill>
                <a:latin typeface="Consolas"/>
              </a:rPr>
              <a:t>run_sql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0048" y="4023359"/>
            <a:ext cx="38404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45454F"/>
                </a:solidFill>
                <a:latin typeface="Segoe UI"/>
              </a:rPr>
              <a:t>Executes the SELECT with the graph-supplied join keys and the canonical revenue expression, read-only and row-capped.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56831" y="4087368"/>
            <a:ext cx="159105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A6B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0A6BAF"/>
                </a:solidFill>
                <a:latin typeface="Segoe UI"/>
              </a:rPr>
              <a:t>6 rows · 4 columns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26864"/>
            <a:ext cx="7818120" cy="640080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626864"/>
            <a:ext cx="45720" cy="640080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745736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1" spc="90">
                <a:solidFill>
                  <a:srgbClr val="78788A"/>
                </a:solidFill>
                <a:latin typeface="Segoe UI"/>
              </a:rP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4956048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0B7C63"/>
                </a:solidFill>
                <a:latin typeface="Consolas"/>
              </a:rPr>
              <a:t>final answer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70048" y="4754880"/>
            <a:ext cx="38404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45454F"/>
                </a:solidFill>
                <a:latin typeface="Segoe UI"/>
              </a:rPr>
              <a:t>States the figures in plain language, then the grounding check confirms each one appears in the returned rows.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56831" y="4818888"/>
            <a:ext cx="159105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B7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0B7C63"/>
                </a:solidFill>
                <a:latin typeface="Segoe UI"/>
              </a:rPr>
              <a:t>grounded = true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95944" y="2432304"/>
            <a:ext cx="2947111" cy="2980944"/>
          </a:xfrm>
          <a:prstGeom prst="rect">
            <a:avLst/>
          </a:prstGeom>
          <a:solidFill>
            <a:srgbClr val="F6F6F9"/>
          </a:solidFill>
          <a:ln w="17780">
            <a:solidFill>
              <a:srgbClr val="0B7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51976" y="2633472"/>
            <a:ext cx="24350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spc="114">
                <a:solidFill>
                  <a:srgbClr val="0B7C63"/>
                </a:solidFill>
                <a:latin typeface="Segoe UI"/>
              </a:rPr>
              <a:t>DELIVERED TO THE USER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51976" y="2944368"/>
            <a:ext cx="24350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1119"/>
                </a:solidFill>
                <a:latin typeface="Segoe UI"/>
              </a:rPr>
              <a:t>Answer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51976" y="3136392"/>
            <a:ext cx="24350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0">
                <a:solidFill>
                  <a:srgbClr val="45454F"/>
                </a:solidFill>
                <a:latin typeface="Segoe UI"/>
              </a:rPr>
              <a:t>Plain language, stating each figure.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51976" y="3364992"/>
            <a:ext cx="2435047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1976" y="3447288"/>
            <a:ext cx="24350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A6BAF"/>
                </a:solidFill>
                <a:latin typeface="Segoe UI"/>
              </a:rPr>
              <a:t>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51976" y="3639312"/>
            <a:ext cx="24350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0">
                <a:solidFill>
                  <a:srgbClr val="45454F"/>
                </a:solidFill>
                <a:latin typeface="Segoe UI"/>
              </a:rPr>
              <a:t>The exact query executed.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51976" y="3867912"/>
            <a:ext cx="2435047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51976" y="3950208"/>
            <a:ext cx="24350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A6BAF"/>
                </a:solidFill>
                <a:latin typeface="Segoe UI"/>
              </a:rPr>
              <a:t>Table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51976" y="4142232"/>
            <a:ext cx="24350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0">
                <a:solidFill>
                  <a:srgbClr val="45454F"/>
                </a:solidFill>
                <a:latin typeface="Segoe UI"/>
              </a:rPr>
              <a:t>The 6 returned rows, inline.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51976" y="4370832"/>
            <a:ext cx="2435047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51976" y="4453128"/>
            <a:ext cx="24350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D00B3"/>
                </a:solidFill>
                <a:latin typeface="Segoe UI"/>
              </a:rPr>
              <a:t>Trace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51976" y="4645152"/>
            <a:ext cx="24350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0">
                <a:solidFill>
                  <a:srgbClr val="45454F"/>
                </a:solidFill>
                <a:latin typeface="Segoe UI"/>
              </a:rPr>
              <a:t>All four steps, expandable.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51976" y="4873752"/>
            <a:ext cx="2435047" cy="5486"/>
          </a:xfrm>
          <a:prstGeom prst="rect">
            <a:avLst/>
          </a:prstGeom>
          <a:solidFill>
            <a:srgbClr val="E1E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51976" y="4956048"/>
            <a:ext cx="24350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B7C63"/>
                </a:solidFill>
                <a:latin typeface="Segoe UI"/>
              </a:rPr>
              <a:t>Badge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51976" y="5148072"/>
            <a:ext cx="24350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0">
                <a:solidFill>
                  <a:srgbClr val="45454F"/>
                </a:solidFill>
                <a:latin typeface="Segoe UI"/>
              </a:rPr>
              <a:t>Verified against data.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DEPLOYMENT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Running today, on managed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5454F"/>
                </a:solidFill>
                <a:latin typeface="Segoe UI"/>
              </a:rPr>
              <a:t>One process serves the API and the UI. Every push to the branch ships automatically.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3551834" cy="107899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27632"/>
            <a:ext cx="45720" cy="10789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73936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spc="100">
                <a:solidFill>
                  <a:srgbClr val="78788A"/>
                </a:solidFill>
                <a:latin typeface="Segoe UI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993392"/>
            <a:ext cx="30946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>
                <a:solidFill>
                  <a:srgbClr val="A100FF"/>
                </a:solidFill>
                <a:latin typeface="Segoe UI"/>
              </a:rPr>
              <a:t>FastAPI + Uvicorn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67712"/>
            <a:ext cx="30946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19" b="0">
                <a:solidFill>
                  <a:srgbClr val="45454F"/>
                </a:solidFill>
                <a:latin typeface="Segoe UI"/>
              </a:rPr>
              <a:t>One process serves /api/* and the UI from a single origin — no CORS, no second deployment.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9930" y="1627632"/>
            <a:ext cx="3551834" cy="107899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9930" y="1627632"/>
            <a:ext cx="45720" cy="1078992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7674" y="1773936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spc="100">
                <a:solidFill>
                  <a:srgbClr val="78788A"/>
                </a:solidFill>
                <a:latin typeface="Segoe UI"/>
              </a:rPr>
              <a:t>KNOWLEDGE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7674" y="1993392"/>
            <a:ext cx="30946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>
                <a:solidFill>
                  <a:srgbClr val="6D00B3"/>
                </a:solidFill>
                <a:latin typeface="Segoe UI"/>
              </a:rPr>
              <a:t>Neo4j AuraDB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7674" y="2267712"/>
            <a:ext cx="30946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19" b="0">
                <a:solidFill>
                  <a:srgbClr val="45454F"/>
                </a:solidFill>
                <a:latin typeface="Segoe UI"/>
              </a:rPr>
              <a:t>Managed cloud. Vector indexes and the schema graph. Rebuilt only when the catalogue changes.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1220" y="1627632"/>
            <a:ext cx="3551834" cy="107899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1220" y="1627632"/>
            <a:ext cx="45720" cy="1078992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8964" y="1773936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spc="100">
                <a:solidFill>
                  <a:srgbClr val="78788A"/>
                </a:solidFill>
                <a:latin typeface="Segoe UI"/>
              </a:rPr>
              <a:t>LANGUAGE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8964" y="1993392"/>
            <a:ext cx="30946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>
                <a:solidFill>
                  <a:srgbClr val="0A6BAF"/>
                </a:solidFill>
                <a:latin typeface="Segoe UI"/>
              </a:rPr>
              <a:t>LLaMA-3.3-70B on Groq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8964" y="2267712"/>
            <a:ext cx="30946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19" b="0">
                <a:solidFill>
                  <a:srgbClr val="45454F"/>
                </a:solidFill>
                <a:latin typeface="Segoe UI"/>
              </a:rPr>
              <a:t>Fast tool-calling inference. The provider sits behind one callable and is swappable.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816352"/>
            <a:ext cx="3551834" cy="107899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816352"/>
            <a:ext cx="45720" cy="1078992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2962656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spc="100">
                <a:solidFill>
                  <a:srgbClr val="78788A"/>
                </a:solidFill>
                <a:latin typeface="Segoe UI"/>
              </a:rPr>
              <a:t>EMBEDDINGS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3182112"/>
            <a:ext cx="30946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>
                <a:solidFill>
                  <a:srgbClr val="0B7C63"/>
                </a:solidFill>
                <a:latin typeface="Segoe UI"/>
              </a:rPr>
              <a:t>all-MiniLM-L6-v2, 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456432"/>
            <a:ext cx="30946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19" b="0">
                <a:solidFill>
                  <a:srgbClr val="45454F"/>
                </a:solidFill>
                <a:latin typeface="Segoe UI"/>
              </a:rPr>
              <a:t>Runs in the container. No per-query API cost, no external dependency.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9930" y="2816352"/>
            <a:ext cx="3551834" cy="107899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9930" y="2816352"/>
            <a:ext cx="45720" cy="1078992"/>
          </a:xfrm>
          <a:prstGeom prst="rect">
            <a:avLst/>
          </a:prstGeom>
          <a:solidFill>
            <a:srgbClr val="A65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7674" y="2962656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spc="100">
                <a:solidFill>
                  <a:srgbClr val="78788A"/>
                </a:solidFill>
                <a:latin typeface="Segoe UI"/>
              </a:rPr>
              <a:t>EXECUTION 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7674" y="3182112"/>
            <a:ext cx="30946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>
                <a:solidFill>
                  <a:srgbClr val="A65E0A"/>
                </a:solidFill>
                <a:latin typeface="Segoe UI"/>
              </a:rPr>
              <a:t>SQLite, tracked in-repo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7674" y="3456432"/>
            <a:ext cx="30946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19" b="0">
                <a:solidFill>
                  <a:srgbClr val="45454F"/>
                </a:solidFill>
                <a:latin typeface="Segoe UI"/>
              </a:rPr>
              <a:t>Zero infrastructure. Opened read-only for every query.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1220" y="2816352"/>
            <a:ext cx="3551834" cy="107899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91220" y="2816352"/>
            <a:ext cx="45720" cy="1078992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8964" y="2962656"/>
            <a:ext cx="309463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spc="100">
                <a:solidFill>
                  <a:srgbClr val="78788A"/>
                </a:solidFill>
                <a:latin typeface="Segoe UI"/>
              </a:rPr>
              <a:t>HOSTING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8964" y="3182112"/>
            <a:ext cx="309463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>
                <a:solidFill>
                  <a:srgbClr val="6D00B3"/>
                </a:solidFill>
                <a:latin typeface="Segoe UI"/>
              </a:rPr>
              <a:t>Railway, auto-deploy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8964" y="3456432"/>
            <a:ext cx="309463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19" b="0">
                <a:solidFill>
                  <a:srgbClr val="45454F"/>
                </a:solidFill>
                <a:latin typeface="Segoe UI"/>
              </a:rPr>
              <a:t>Health-checked releases from GitHub. Configuration is committed as railway.toml.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114800"/>
            <a:ext cx="11094415" cy="1572768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4315968"/>
            <a:ext cx="10545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 spc="114">
                <a:solidFill>
                  <a:srgbClr val="6D00B3"/>
                </a:solidFill>
                <a:latin typeface="Segoe UI"/>
              </a:rPr>
              <a:t>OPERATIONAL POSTURE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46451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1119"/>
                </a:solidFill>
                <a:latin typeface="Segoe UI"/>
              </a:rPr>
              <a:t>Health endpoint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33472" y="4645152"/>
            <a:ext cx="341071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45454F"/>
                </a:solidFill>
                <a:latin typeface="Segoe UI"/>
              </a:rPr>
              <a:t>/api/health reports graph reachability and catalogue freshness, with a bounded 5-second probe so a paused instance never hangs the poll.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79" y="4645152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1119"/>
                </a:solidFill>
                <a:latin typeface="Segoe UI"/>
              </a:rPr>
              <a:t>Staleness detection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5592" y="4645152"/>
            <a:ext cx="341071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45454F"/>
                </a:solidFill>
                <a:latin typeface="Segoe UI"/>
              </a:rPr>
              <a:t>A build stamp in the graph is compared against the catalogue fingerprint — a stale graph is reported, never silently served.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59" y="5157216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1119"/>
                </a:solidFill>
                <a:latin typeface="Segoe UI"/>
              </a:rPr>
              <a:t>Rate-limit discipline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33472" y="5157216"/>
            <a:ext cx="341071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45454F"/>
                </a:solidFill>
                <a:latin typeface="Segoe UI"/>
              </a:rPr>
              <a:t>Transient limits honour Retry-After; a sustained quota raises a distinct signal so callers stop rather than hammer.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79" y="5157216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11119"/>
                </a:solidFill>
                <a:latin typeface="Segoe UI"/>
              </a:rPr>
              <a:t>Config as code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5592" y="5157216"/>
            <a:ext cx="341071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45454F"/>
                </a:solidFill>
                <a:latin typeface="Segoe UI"/>
              </a:rPr>
              <a:t>Start command, health check and restart policy live in railway.toml — the deployment is reviewable in the repository.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02336"/>
            <a:ext cx="50292" cy="274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2976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11119"/>
                </a:solidFill>
                <a:latin typeface="Segoe UI"/>
              </a:rPr>
              <a:t>What changes for the organisation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0728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5454F"/>
                </a:solidFill>
                <a:latin typeface="Segoe UI"/>
              </a:rPr>
              <a:t>The technical work matters because of what it removes: a queue, a dependency, and a class of silent error.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2609011" cy="1956816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27632"/>
            <a:ext cx="2609011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38528"/>
            <a:ext cx="20969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9"/>
                </a:solidFill>
                <a:latin typeface="Segoe UI"/>
              </a:rPr>
              <a:t>From days to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96896"/>
            <a:ext cx="20969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5454F"/>
                </a:solidFill>
                <a:latin typeface="Segoe UI"/>
              </a:rPr>
              <a:t>A question that used to become a ticket is now asked and answered in the same conversation.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7107" y="1627632"/>
            <a:ext cx="2609011" cy="1956816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7107" y="1627632"/>
            <a:ext cx="2609011" cy="45720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3139" y="1938528"/>
            <a:ext cx="20969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9"/>
                </a:solidFill>
                <a:latin typeface="Segoe UI"/>
              </a:rPr>
              <a:t>Analysts move up the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3139" y="2596896"/>
            <a:ext cx="20969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5454F"/>
                </a:solidFill>
                <a:latin typeface="Segoe UI"/>
              </a:rPr>
              <a:t>The team stops writing routine joins and starts curating the catalogue and the metric glossary.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5575" y="1627632"/>
            <a:ext cx="2609011" cy="1956816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5575" y="1627632"/>
            <a:ext cx="2609011" cy="45720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1938528"/>
            <a:ext cx="20969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9"/>
                </a:solidFill>
                <a:latin typeface="Segoe UI"/>
              </a:rPr>
              <a:t>One definition of the truth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2596896"/>
            <a:ext cx="20969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5454F"/>
                </a:solidFill>
                <a:latin typeface="Segoe UI"/>
              </a:rPr>
              <a:t>“Revenue” means one expression, governed in one file — the same number in every answer, for everyone.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34043" y="1627632"/>
            <a:ext cx="2609011" cy="1956816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043" y="1627632"/>
            <a:ext cx="2609011" cy="45720"/>
          </a:xfrm>
          <a:prstGeom prst="rect">
            <a:avLst/>
          </a:prstGeom>
          <a:solidFill>
            <a:srgbClr val="0B7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075" y="1938528"/>
            <a:ext cx="20969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9"/>
                </a:solidFill>
                <a:latin typeface="Segoe UI"/>
              </a:rPr>
              <a:t>Auditable by default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075" y="2596896"/>
            <a:ext cx="20969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45454F"/>
                </a:solidFill>
                <a:latin typeface="Segoe UI"/>
              </a:rPr>
              <a:t>Every answer arrives with its SQL, its rows and its reasoning. Nothing has to be taken on trust.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03904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78788A"/>
                </a:solidFill>
                <a:latin typeface="Segoe UI"/>
              </a:rPr>
              <a:t>WHERE THIS GOES NEXT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78224"/>
            <a:ext cx="3551834" cy="1517904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078224"/>
            <a:ext cx="45720" cy="15179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" y="4261104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A100FF"/>
                </a:solidFill>
                <a:latin typeface="Segoe UI"/>
              </a:rPr>
              <a:t>NEAR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4626864"/>
            <a:ext cx="309463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11119"/>
                </a:solidFill>
                <a:latin typeface="Segoe UI"/>
              </a:rPr>
              <a:t>Widen the catalogue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4919472"/>
            <a:ext cx="309463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40" b="0">
                <a:solidFill>
                  <a:srgbClr val="45454F"/>
                </a:solidFill>
                <a:latin typeface="Segoe UI"/>
              </a:rPr>
              <a:t>Point the same pipeline at real warehouse metadata. The architecture is catalogue-driven — new domains need no code change.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9930" y="4078224"/>
            <a:ext cx="3551834" cy="1517904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9930" y="4078224"/>
            <a:ext cx="45720" cy="1517904"/>
          </a:xfrm>
          <a:prstGeom prst="rect">
            <a:avLst/>
          </a:prstGeom>
          <a:solidFill>
            <a:srgbClr val="0A6B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57674" y="4261104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A6B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0A6BAF"/>
                </a:solidFill>
                <a:latin typeface="Segoe UI"/>
              </a:rPr>
              <a:t>NEXT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7674" y="4626864"/>
            <a:ext cx="309463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11119"/>
                </a:solidFill>
                <a:latin typeface="Segoe UI"/>
              </a:rPr>
              <a:t>Raise the accuracy floor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7674" y="4919472"/>
            <a:ext cx="309463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40" b="0">
                <a:solidFill>
                  <a:srgbClr val="45454F"/>
                </a:solidFill>
                <a:latin typeface="Segoe UI"/>
              </a:rPr>
              <a:t>Run the live evaluation baseline, then use it to gate prompt hardening and a higher step budget.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1220" y="4078224"/>
            <a:ext cx="3551834" cy="1517904"/>
          </a:xfrm>
          <a:prstGeom prst="rect">
            <a:avLst/>
          </a:prstGeom>
          <a:solidFill>
            <a:srgbClr val="EFEFF4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1220" y="4078224"/>
            <a:ext cx="45720" cy="1517904"/>
          </a:xfrm>
          <a:prstGeom prst="rect">
            <a:avLst/>
          </a:prstGeom>
          <a:solidFill>
            <a:srgbClr val="6D00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8964" y="4261104"/>
            <a:ext cx="82296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D00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</a:pPr>
            <a:r>
              <a:rPr sz="760" b="1">
                <a:solidFill>
                  <a:srgbClr val="6D00B3"/>
                </a:solidFill>
                <a:latin typeface="Segoe UI"/>
              </a:rPr>
              <a:t>LATER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8964" y="4626864"/>
            <a:ext cx="309463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11119"/>
                </a:solidFill>
                <a:latin typeface="Segoe UI"/>
              </a:rPr>
              <a:t>Specialise the agents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8964" y="4919472"/>
            <a:ext cx="309463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40" b="0">
                <a:solidFill>
                  <a:srgbClr val="45454F"/>
                </a:solidFill>
                <a:latin typeface="Segoe UI"/>
              </a:rPr>
              <a:t>Split planner, SQL author and synthesiser so each can be tuned and evaluated independently.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391656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 spc="40">
                <a:solidFill>
                  <a:srgbClr val="78788A"/>
                </a:solidFill>
                <a:latin typeface="Segoe UI"/>
              </a:rPr>
              <a:t>DataPulse  ·  Knowledge-Graph Grounded Text-to-SQL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4255" y="639165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6000"/>
              </a:lnSpc>
            </a:pPr>
            <a:r>
              <a:rPr sz="800" b="1">
                <a:solidFill>
                  <a:srgbClr val="6D00B3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0292" cy="310896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225296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1" spc="130">
                <a:solidFill>
                  <a:srgbClr val="6D00B3"/>
                </a:solidFill>
                <a:latin typeface="Segoe UI"/>
              </a:rPr>
              <a:t>IN ONE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00784"/>
            <a:ext cx="10607040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0">
                <a:solidFill>
                  <a:srgbClr val="111119"/>
                </a:solidFill>
                <a:latin typeface="Segoe UI Light"/>
              </a:rPr>
              <a:t>The knowledge graph is what makes</a:t>
            </a:r>
          </a:p>
          <a:p>
            <a:pPr algn="l">
              <a:lnSpc>
                <a:spcPct val="118000"/>
              </a:lnSpc>
            </a:pPr>
            <a:r>
              <a:rPr sz="3800" b="0">
                <a:solidFill>
                  <a:srgbClr val="111119"/>
                </a:solidFill>
                <a:latin typeface="Segoe UI Light"/>
              </a:rPr>
              <a:t>the language model </a:t>
            </a:r>
            <a:r>
              <a:rPr sz="3800" b="1">
                <a:solidFill>
                  <a:srgbClr val="6D00B3"/>
                </a:solidFill>
                <a:latin typeface="Segoe UI Light"/>
              </a:rPr>
              <a:t>trustworthy.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19856"/>
            <a:ext cx="4572000" cy="12801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39312"/>
            <a:ext cx="1060704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4000"/>
              </a:lnSpc>
            </a:pPr>
            <a:r>
              <a:rPr sz="1350" b="0">
                <a:solidFill>
                  <a:srgbClr val="45454F"/>
                </a:solidFill>
                <a:latin typeface="Segoe UI"/>
              </a:rPr>
              <a:t>The model supplies language. The graph supplies structure — which tables are relevant, how they join, and what the business means by a metric. </a:t>
            </a:r>
          </a:p>
          <a:p>
            <a:pPr algn="l">
              <a:lnSpc>
                <a:spcPct val="144000"/>
              </a:lnSpc>
            </a:pPr>
            <a:r>
              <a:rPr sz="1350" b="1">
                <a:solidFill>
                  <a:srgbClr val="111119"/>
                </a:solidFill>
                <a:latin typeface="Segoe UI"/>
              </a:rPr>
              <a:t>Separating those two responsibilities is the whole design, and it is why the answers hold 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882896"/>
            <a:ext cx="2622727" cy="89611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882896"/>
            <a:ext cx="2622727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084064"/>
            <a:ext cx="26227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11119"/>
                </a:solidFill>
                <a:latin typeface="Segoe UI"/>
              </a:rPr>
              <a:t>83.8%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49824"/>
            <a:ext cx="26227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spc="90">
                <a:solidFill>
                  <a:srgbClr val="6D00B3"/>
                </a:solidFill>
                <a:latin typeface="Segoe UI"/>
              </a:rPr>
              <a:t>LESS PROMPT CONTEXT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2535" y="4882896"/>
            <a:ext cx="2622727" cy="89611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72535" y="4882896"/>
            <a:ext cx="2622727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2535" y="5084064"/>
            <a:ext cx="26227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11119"/>
                </a:solidFill>
                <a:latin typeface="Segoe UI"/>
              </a:rPr>
              <a:t>6.2×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2535" y="5449824"/>
            <a:ext cx="26227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spc="90">
                <a:solidFill>
                  <a:srgbClr val="6D00B3"/>
                </a:solidFill>
                <a:latin typeface="Segoe UI"/>
              </a:rPr>
              <a:t>SMALLER PAYLOAD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4882896"/>
            <a:ext cx="2622727" cy="89611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4882896"/>
            <a:ext cx="2622727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6431" y="5084064"/>
            <a:ext cx="26227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11119"/>
                </a:solidFill>
                <a:latin typeface="Segoe UI"/>
              </a:rPr>
              <a:t>441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6431" y="5449824"/>
            <a:ext cx="26227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spc="90">
                <a:solidFill>
                  <a:srgbClr val="6D00B3"/>
                </a:solidFill>
                <a:latin typeface="Segoe UI"/>
              </a:rPr>
              <a:t>GRAPH NODES SERVING THE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0327" y="4882896"/>
            <a:ext cx="2622727" cy="896112"/>
          </a:xfrm>
          <a:prstGeom prst="rect">
            <a:avLst/>
          </a:prstGeom>
          <a:solidFill>
            <a:srgbClr val="F6F6F9"/>
          </a:solidFill>
          <a:ln w="12700">
            <a:solidFill>
              <a:srgbClr val="E1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0327" y="4882896"/>
            <a:ext cx="2622727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0327" y="5084064"/>
            <a:ext cx="26227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11119"/>
                </a:solidFill>
                <a:latin typeface="Segoe UI"/>
              </a:rPr>
              <a:t>184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0327" y="5449824"/>
            <a:ext cx="26227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spc="90">
                <a:solidFill>
                  <a:srgbClr val="6D00B3"/>
                </a:solidFill>
                <a:latin typeface="Segoe UI"/>
              </a:rPr>
              <a:t>TESTS GUARDING THE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44768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50" b="0" spc="40">
                <a:solidFill>
                  <a:srgbClr val="78788A"/>
                </a:solidFill>
                <a:latin typeface="Segoe UI"/>
              </a:rPr>
              <a:t>DataPulse   ·   Knowledge-Graph Grounded Text-to-SQL   ·   Live on Railway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