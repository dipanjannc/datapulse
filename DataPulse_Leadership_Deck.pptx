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gradFill rotWithShape="1">
            <a:gsLst>
              <a:gs pos="0">
                <a:srgbClr val="4A007A"/>
              </a:gs>
              <a:gs pos="100000">
                <a:srgbClr val="A100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8823960" y="1229868"/>
            <a:ext cx="1522476" cy="342900"/>
          </a:xfrm>
          <a:prstGeom prst="line">
            <a:avLst/>
          </a:prstGeom>
          <a:ln w="13970">
            <a:solidFill>
              <a:srgbClr val="E0C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823960" y="1572768"/>
            <a:ext cx="758952" cy="877824"/>
          </a:xfrm>
          <a:prstGeom prst="line">
            <a:avLst/>
          </a:prstGeom>
          <a:ln w="13970">
            <a:solidFill>
              <a:srgbClr val="E0C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46436" y="1229868"/>
            <a:ext cx="996696" cy="694944"/>
          </a:xfrm>
          <a:prstGeom prst="line">
            <a:avLst/>
          </a:prstGeom>
          <a:ln w="13970">
            <a:solidFill>
              <a:srgbClr val="E0C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0986515" y="1924812"/>
            <a:ext cx="356617" cy="969264"/>
          </a:xfrm>
          <a:prstGeom prst="line">
            <a:avLst/>
          </a:prstGeom>
          <a:ln w="13970">
            <a:solidFill>
              <a:srgbClr val="E0C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582912" y="2450592"/>
            <a:ext cx="1403603" cy="443484"/>
          </a:xfrm>
          <a:prstGeom prst="line">
            <a:avLst/>
          </a:prstGeom>
          <a:ln w="13970">
            <a:solidFill>
              <a:srgbClr val="E0C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8558784" y="2450592"/>
            <a:ext cx="1024128" cy="667512"/>
          </a:xfrm>
          <a:prstGeom prst="line">
            <a:avLst/>
          </a:prstGeom>
          <a:ln w="13970">
            <a:solidFill>
              <a:srgbClr val="E0C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0008108" y="2894076"/>
            <a:ext cx="978407" cy="868679"/>
          </a:xfrm>
          <a:prstGeom prst="line">
            <a:avLst/>
          </a:prstGeom>
          <a:ln w="13970">
            <a:solidFill>
              <a:srgbClr val="E0C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58784" y="3118104"/>
            <a:ext cx="1449324" cy="644651"/>
          </a:xfrm>
          <a:prstGeom prst="line">
            <a:avLst/>
          </a:prstGeom>
          <a:ln w="13970">
            <a:solidFill>
              <a:srgbClr val="E0C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008108" y="3762755"/>
            <a:ext cx="1426464" cy="265176"/>
          </a:xfrm>
          <a:prstGeom prst="line">
            <a:avLst/>
          </a:prstGeom>
          <a:ln w="13970">
            <a:solidFill>
              <a:srgbClr val="E0C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9153144" y="3762755"/>
            <a:ext cx="854964" cy="726948"/>
          </a:xfrm>
          <a:prstGeom prst="line">
            <a:avLst/>
          </a:prstGeom>
          <a:ln w="13970">
            <a:solidFill>
              <a:srgbClr val="E0C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008108" y="3762755"/>
            <a:ext cx="617220" cy="1010413"/>
          </a:xfrm>
          <a:prstGeom prst="line">
            <a:avLst/>
          </a:prstGeom>
          <a:ln w="13970">
            <a:solidFill>
              <a:srgbClr val="E0C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0625328" y="4027931"/>
            <a:ext cx="809244" cy="745237"/>
          </a:xfrm>
          <a:prstGeom prst="line">
            <a:avLst/>
          </a:prstGeom>
          <a:ln w="13970">
            <a:solidFill>
              <a:srgbClr val="E0C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153144" y="4489703"/>
            <a:ext cx="1472184" cy="283465"/>
          </a:xfrm>
          <a:prstGeom prst="line">
            <a:avLst/>
          </a:prstGeom>
          <a:ln w="13970">
            <a:solidFill>
              <a:srgbClr val="E0C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8732520" y="1481328"/>
            <a:ext cx="182880" cy="18288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87000" y="1170432"/>
            <a:ext cx="118872" cy="118872"/>
          </a:xfrm>
          <a:prstGeom prst="ellipse">
            <a:avLst/>
          </a:prstGeom>
          <a:solidFill>
            <a:srgbClr val="C1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292840" y="1874519"/>
            <a:ext cx="100584" cy="100584"/>
          </a:xfrm>
          <a:prstGeom prst="ellipse">
            <a:avLst/>
          </a:prstGeom>
          <a:solidFill>
            <a:srgbClr val="C1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09760" y="2377440"/>
            <a:ext cx="146304" cy="146304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27080" y="2834640"/>
            <a:ext cx="118872" cy="118872"/>
          </a:xfrm>
          <a:prstGeom prst="ellipse">
            <a:avLst/>
          </a:prstGeom>
          <a:solidFill>
            <a:srgbClr val="C1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03920" y="3063240"/>
            <a:ext cx="109728" cy="109728"/>
          </a:xfrm>
          <a:prstGeom prst="ellipse">
            <a:avLst/>
          </a:prstGeom>
          <a:solidFill>
            <a:srgbClr val="C1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3675887"/>
            <a:ext cx="173736" cy="173736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84280" y="3977639"/>
            <a:ext cx="100584" cy="100584"/>
          </a:xfrm>
          <a:prstGeom prst="ellipse">
            <a:avLst/>
          </a:prstGeom>
          <a:solidFill>
            <a:srgbClr val="C1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098280" y="4434840"/>
            <a:ext cx="109728" cy="109728"/>
          </a:xfrm>
          <a:prstGeom prst="ellipse">
            <a:avLst/>
          </a:prstGeom>
          <a:solidFill>
            <a:srgbClr val="C1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61320" y="4709160"/>
            <a:ext cx="128016" cy="128016"/>
          </a:xfrm>
          <a:prstGeom prst="ellipse">
            <a:avLst/>
          </a:prstGeom>
          <a:solidFill>
            <a:srgbClr val="C1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1554480"/>
            <a:ext cx="50292" cy="310896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15910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ENTERPRISE DATA INTELLIGENCE  ·  TECHNICAL BRIEFING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084831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200" b="0">
                <a:solidFill>
                  <a:srgbClr val="111119"/>
                </a:solidFill>
                <a:latin typeface="Segoe UI Light"/>
              </a:rPr>
              <a:t>Data</a:t>
            </a:r>
            <a:r>
              <a:rPr sz="6200" b="1">
                <a:solidFill>
                  <a:srgbClr val="6D00B3"/>
                </a:solidFill>
                <a:latin typeface="Segoe UI"/>
              </a:rPr>
              <a:t>Pulse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054096"/>
            <a:ext cx="76809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Ask your data. In plain English.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657600"/>
            <a:ext cx="3291840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895344"/>
            <a:ext cx="72237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700" b="1">
                <a:solidFill>
                  <a:srgbClr val="6D00B3"/>
                </a:solidFill>
                <a:latin typeface="Segoe UI"/>
              </a:rPr>
              <a:t>The graph plans the query.</a:t>
            </a:r>
          </a:p>
          <a:p>
            <a:pPr algn="l">
              <a:lnSpc>
                <a:spcPct val="134000"/>
              </a:lnSpc>
            </a:pPr>
            <a:r>
              <a:rPr sz="1700" b="0">
                <a:solidFill>
                  <a:srgbClr val="45454F"/>
                </a:solidFill>
                <a:latin typeface="Segoe UI"/>
              </a:rPr>
              <a:t>The database answers it.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138928"/>
            <a:ext cx="1691640" cy="82296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138928"/>
            <a:ext cx="1691640" cy="457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352897"/>
            <a:ext cx="1691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11119"/>
                </a:solidFill>
                <a:latin typeface="Segoe U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682081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6D00B3"/>
                </a:solidFill>
                <a:latin typeface="Segoe UI"/>
              </a:rPr>
              <a:t>DOMAINS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23160" y="5138928"/>
            <a:ext cx="1691640" cy="82296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23160" y="5138928"/>
            <a:ext cx="1691640" cy="457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23160" y="5352897"/>
            <a:ext cx="1691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11119"/>
                </a:solidFill>
                <a:latin typeface="Segoe UI"/>
              </a:rPr>
              <a:t>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23160" y="5682081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6D00B3"/>
                </a:solidFill>
                <a:latin typeface="Segoe UI"/>
              </a:rPr>
              <a:t>TABLES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97680" y="5138928"/>
            <a:ext cx="1691640" cy="82296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97680" y="5138928"/>
            <a:ext cx="1691640" cy="457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97680" y="5352897"/>
            <a:ext cx="1691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11119"/>
                </a:solidFill>
                <a:latin typeface="Segoe UI"/>
              </a:rPr>
              <a:t>23,293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5682081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6D00B3"/>
                </a:solidFill>
                <a:latin typeface="Segoe UI"/>
              </a:rPr>
              <a:t>ROWS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72200" y="5138928"/>
            <a:ext cx="1691640" cy="82296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72200" y="5138928"/>
            <a:ext cx="1691640" cy="457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72200" y="5352897"/>
            <a:ext cx="1691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11119"/>
                </a:solidFill>
                <a:latin typeface="Segoe UI"/>
              </a:rPr>
              <a:t>441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72200" y="5682081"/>
            <a:ext cx="1691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6D00B3"/>
                </a:solidFill>
                <a:latin typeface="Segoe UI"/>
              </a:rPr>
              <a:t>GRAPH NODES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272784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0" spc="50">
                <a:solidFill>
                  <a:srgbClr val="78788A"/>
                </a:solidFill>
                <a:latin typeface="Segoe UI"/>
              </a:rPr>
              <a:t>Neo4j   ·   LLaMA-3.3-70B on Groq   ·   FastAPI   ·   SQLite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10972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0">
                <a:solidFill>
                  <a:srgbClr val="111119"/>
                </a:solidFill>
                <a:latin typeface="Segoe UI Light"/>
              </a:rPr>
              <a:t>A business question in,</a:t>
            </a:r>
          </a:p>
          <a:p>
            <a:pPr algn="l">
              <a:lnSpc>
                <a:spcPct val="120000"/>
              </a:lnSpc>
            </a:pPr>
            <a:r>
              <a:rPr sz="4600" b="0">
                <a:solidFill>
                  <a:srgbClr val="111119"/>
                </a:solidFill>
                <a:latin typeface="Segoe UI Light"/>
              </a:rPr>
              <a:t>verified SQL out —</a:t>
            </a:r>
          </a:p>
          <a:p>
            <a:pPr algn="l">
              <a:lnSpc>
                <a:spcPct val="120000"/>
              </a:lnSpc>
            </a:pPr>
            <a:r>
              <a:rPr sz="4600" b="1">
                <a:solidFill>
                  <a:srgbClr val="6D00B3"/>
                </a:solidFill>
                <a:latin typeface="Segoe UI Light"/>
              </a:rPr>
              <a:t>and the reasoning shown.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968496"/>
            <a:ext cx="4572000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548640" y="4297680"/>
            <a:ext cx="2145731" cy="841248"/>
          </a:xfrm>
          <a:prstGeom prst="chevron">
            <a:avLst/>
          </a:prstGeom>
          <a:solidFill>
            <a:srgbClr val="EFEFF4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4517136"/>
            <a:ext cx="18531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78788A"/>
                </a:solidFill>
                <a:latin typeface="Segoe UI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4773168"/>
            <a:ext cx="18531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0">
                <a:solidFill>
                  <a:srgbClr val="78788A"/>
                </a:solidFill>
                <a:latin typeface="Segoe UI"/>
              </a:rPr>
              <a:t>plain English</a:t>
            </a:r>
          </a:p>
        </p:txBody>
      </p:sp>
      <p:sp>
        <p:nvSpPr>
          <p:cNvPr id="9" name="Chevron 8"/>
          <p:cNvSpPr/>
          <p:nvPr/>
        </p:nvSpPr>
        <p:spPr>
          <a:xfrm>
            <a:off x="2785811" y="4297680"/>
            <a:ext cx="2145731" cy="841248"/>
          </a:xfrm>
          <a:prstGeom prst="chevron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32115" y="4517136"/>
            <a:ext cx="18531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6D00B3"/>
                </a:solidFill>
                <a:latin typeface="Segoe UI"/>
              </a:rPr>
              <a:t>Knowledge 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4773168"/>
            <a:ext cx="18531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0">
                <a:solidFill>
                  <a:srgbClr val="78788A"/>
                </a:solidFill>
                <a:latin typeface="Segoe UI"/>
              </a:rPr>
              <a:t>finds the schema</a:t>
            </a:r>
          </a:p>
        </p:txBody>
      </p:sp>
      <p:sp>
        <p:nvSpPr>
          <p:cNvPr id="12" name="Chevron 11"/>
          <p:cNvSpPr/>
          <p:nvPr/>
        </p:nvSpPr>
        <p:spPr>
          <a:xfrm>
            <a:off x="5022982" y="4297680"/>
            <a:ext cx="2145731" cy="841248"/>
          </a:xfrm>
          <a:prstGeom prst="chevron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9286" y="4517136"/>
            <a:ext cx="18531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6D00B3"/>
                </a:solidFill>
                <a:latin typeface="Segoe UI"/>
              </a:rPr>
              <a:t>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9286" y="4773168"/>
            <a:ext cx="18531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0">
                <a:solidFill>
                  <a:srgbClr val="78788A"/>
                </a:solidFill>
                <a:latin typeface="Segoe UI"/>
              </a:rPr>
              <a:t>writes the SQL</a:t>
            </a:r>
          </a:p>
        </p:txBody>
      </p:sp>
      <p:sp>
        <p:nvSpPr>
          <p:cNvPr id="15" name="Chevron 14"/>
          <p:cNvSpPr/>
          <p:nvPr/>
        </p:nvSpPr>
        <p:spPr>
          <a:xfrm>
            <a:off x="7260153" y="4297680"/>
            <a:ext cx="2145731" cy="841248"/>
          </a:xfrm>
          <a:prstGeom prst="chevron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457" y="4517136"/>
            <a:ext cx="18531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A6BAF"/>
                </a:solidFill>
                <a:latin typeface="Segoe UI"/>
              </a:rPr>
              <a:t>Database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457" y="4773168"/>
            <a:ext cx="18531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0">
                <a:solidFill>
                  <a:srgbClr val="78788A"/>
                </a:solidFill>
                <a:latin typeface="Segoe UI"/>
              </a:rPr>
              <a:t>returns the rows</a:t>
            </a:r>
          </a:p>
        </p:txBody>
      </p:sp>
      <p:sp>
        <p:nvSpPr>
          <p:cNvPr id="18" name="Chevron 17"/>
          <p:cNvSpPr/>
          <p:nvPr/>
        </p:nvSpPr>
        <p:spPr>
          <a:xfrm>
            <a:off x="9497324" y="4297680"/>
            <a:ext cx="2145731" cy="841248"/>
          </a:xfrm>
          <a:prstGeom prst="chevron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3628" y="4517136"/>
            <a:ext cx="18531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7C63"/>
                </a:solidFill>
                <a:latin typeface="Segoe UI"/>
              </a:rPr>
              <a:t>Answer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3628" y="4773168"/>
            <a:ext cx="18531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0">
                <a:solidFill>
                  <a:srgbClr val="78788A"/>
                </a:solidFill>
                <a:latin typeface="Segoe UI"/>
              </a:rPr>
              <a:t>with its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49824"/>
            <a:ext cx="1109441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45454F"/>
                </a:solidFill>
                <a:latin typeface="Segoe UI"/>
              </a:rPr>
              <a:t>No SQL. No ticket. No waiting for someone who knows the schema.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A007A"/>
              </a:gs>
              <a:gs pos="100000">
                <a:srgbClr val="A100FF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050" b="0">
                <a:solidFill>
                  <a:srgbClr val="45454F"/>
                </a:solidFill>
                <a:latin typeface="Segoe U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95728"/>
            <a:ext cx="2743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1000" b="1">
                <a:solidFill>
                  <a:srgbClr val="C98AF5"/>
                </a:solidFill>
                <a:latin typeface="Segoe UI Light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2615184"/>
            <a:ext cx="18288" cy="1005840"/>
          </a:xfrm>
          <a:prstGeom prst="rect">
            <a:avLst/>
          </a:prstGeom>
          <a:solidFill>
            <a:srgbClr val="C98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80944" y="267004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E4C6FC"/>
                </a:solidFill>
                <a:latin typeface="Segoe UI"/>
              </a:rPr>
              <a:t>SECTION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80944" y="2926080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0944" y="358444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DDBCF8"/>
                </a:solidFill>
                <a:latin typeface="Segoe UI"/>
              </a:rPr>
              <a:t>Everyone has the data. Almost nobody can reach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A question, and the wall between it and the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214884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87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2148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78788A"/>
                </a:solidFill>
                <a:latin typeface="Segoe UI"/>
              </a:rPr>
              <a:t>The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37560"/>
            <a:ext cx="2148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one plain sentence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834640" y="3246120"/>
            <a:ext cx="502920" cy="182880"/>
          </a:xfrm>
          <a:prstGeom prst="rightArrow">
            <a:avLst/>
          </a:prstGeom>
          <a:solidFill>
            <a:srgbClr val="C6C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49039" y="1920240"/>
            <a:ext cx="4206240" cy="2834640"/>
          </a:xfrm>
          <a:prstGeom prst="rect">
            <a:avLst/>
          </a:prstGeom>
          <a:gradFill rotWithShape="1">
            <a:gsLst>
              <a:gs pos="0">
                <a:srgbClr val="F3E6FC"/>
              </a:gs>
              <a:gs pos="100000">
                <a:srgbClr val="E0C4F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9039" y="1920240"/>
            <a:ext cx="4206240" cy="45720"/>
          </a:xfrm>
          <a:prstGeom prst="rect">
            <a:avLst/>
          </a:prstGeom>
          <a:solidFill>
            <a:srgbClr val="BE2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2121408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spc="120">
                <a:solidFill>
                  <a:srgbClr val="BE2F2A"/>
                </a:solidFill>
                <a:latin typeface="Segoe UI"/>
              </a:rPr>
              <a:t>THE TRANSLATION LAYER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86783" y="2450592"/>
            <a:ext cx="37307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51376" y="2551176"/>
            <a:ext cx="7863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6D00B3"/>
                </a:solidFill>
                <a:latin typeface="Segoe UI"/>
              </a:rPr>
              <a:t>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2587752"/>
            <a:ext cx="24688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45454F"/>
                </a:solidFill>
                <a:latin typeface="Segoe UI"/>
              </a:rPr>
              <a:t>tables to choose from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86783" y="2999232"/>
            <a:ext cx="37307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51376" y="3099816"/>
            <a:ext cx="7863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6D00B3"/>
                </a:solidFill>
                <a:latin typeface="Segoe UI"/>
              </a:rPr>
              <a:t>373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7488" y="3136392"/>
            <a:ext cx="24688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45454F"/>
                </a:solidFill>
                <a:latin typeface="Segoe UI"/>
              </a:rPr>
              <a:t>columns to disambiguate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86783" y="3547872"/>
            <a:ext cx="37307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51376" y="3648456"/>
            <a:ext cx="7863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6D00B3"/>
                </a:solidFill>
                <a:latin typeface="Segoe UI"/>
              </a:rPr>
              <a:t>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8" y="3685032"/>
            <a:ext cx="24688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45454F"/>
                </a:solidFill>
                <a:latin typeface="Segoe UI"/>
              </a:rPr>
              <a:t>join keys, none in the DDL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86783" y="4096512"/>
            <a:ext cx="37307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51376" y="4197096"/>
            <a:ext cx="7863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6D00B3"/>
                </a:solidFill>
                <a:latin typeface="Segoe U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4233672"/>
            <a:ext cx="24688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45454F"/>
                </a:solidFill>
                <a:latin typeface="Segoe UI"/>
              </a:rPr>
              <a:t>definition of “revenue”, contested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101583" y="3246120"/>
            <a:ext cx="502920" cy="182880"/>
          </a:xfrm>
          <a:prstGeom prst="rightArrow">
            <a:avLst/>
          </a:prstGeom>
          <a:solidFill>
            <a:srgbClr val="E8C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778240" y="2880360"/>
            <a:ext cx="214884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0" y="3063240"/>
            <a:ext cx="2148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C6C6D2"/>
                </a:solidFill>
                <a:latin typeface="Segoe UI"/>
              </a:rPr>
              <a:t>The answer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3337560"/>
            <a:ext cx="2148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days later, if at all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047488"/>
            <a:ext cx="11094415" cy="786384"/>
          </a:xfrm>
          <a:prstGeom prst="rect">
            <a:avLst/>
          </a:prstGeom>
          <a:solidFill>
            <a:srgbClr val="EFEFF4"/>
          </a:solidFill>
          <a:ln w="1778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047488"/>
            <a:ext cx="50292" cy="78638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7" y="5193792"/>
            <a:ext cx="104360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D00B3"/>
                </a:solidFill>
                <a:latin typeface="Segoe UI"/>
              </a:rPr>
              <a:t>The wall is not technical. </a:t>
            </a:r>
            <a:r>
              <a:rPr sz="1300" b="0">
                <a:solidFill>
                  <a:srgbClr val="111119"/>
                </a:solidFill>
                <a:latin typeface="Segoe UI"/>
              </a:rPr>
              <a:t>It is a person — the analyst who holds all four of those facts in their head.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7" y="5504688"/>
            <a:ext cx="1043604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0">
                <a:solidFill>
                  <a:srgbClr val="78788A"/>
                </a:solidFill>
                <a:latin typeface="Segoe UI"/>
              </a:rPr>
              <a:t>That person is the bottleneck, and there are never enough of them.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THE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The same question, two worlds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318607" cy="4315968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81328"/>
            <a:ext cx="5318607" cy="45720"/>
          </a:xfrm>
          <a:prstGeom prst="rect">
            <a:avLst/>
          </a:prstGeom>
          <a:solidFill>
            <a:srgbClr val="BE2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00784"/>
            <a:ext cx="53186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spc="130">
                <a:solidFill>
                  <a:srgbClr val="BE2F2A"/>
                </a:solidFill>
                <a:latin typeface="Segoe UI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48256"/>
            <a:ext cx="5318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8200" b="1">
                <a:solidFill>
                  <a:srgbClr val="BE2F2A"/>
                </a:solidFill>
                <a:latin typeface="Segoe UI Light"/>
              </a:rPr>
              <a:t>4</a:t>
            </a:r>
            <a:r>
              <a:rPr sz="2200" b="0">
                <a:solidFill>
                  <a:srgbClr val="78788A"/>
                </a:solidFill>
                <a:latin typeface="Segoe UI Light"/>
              </a:rPr>
              <a:t> 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182112"/>
            <a:ext cx="47699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78788A"/>
                </a:solidFill>
                <a:latin typeface="Segoe UI"/>
              </a:rPr>
              <a:t>question → ticket → queue → analyst → spreadsheet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3529584"/>
            <a:ext cx="4221327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3744468"/>
            <a:ext cx="146304" cy="146304"/>
          </a:xfrm>
          <a:prstGeom prst="ellipse">
            <a:avLst/>
          </a:prstGeom>
          <a:solidFill>
            <a:srgbClr val="BE2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5" y="3694176"/>
            <a:ext cx="42579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Filed, queued, seventh in line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201668"/>
            <a:ext cx="146304" cy="146304"/>
          </a:xfrm>
          <a:prstGeom prst="ellipse">
            <a:avLst/>
          </a:prstGeom>
          <a:solidFill>
            <a:srgbClr val="BE2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25295" y="4151376"/>
            <a:ext cx="42579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An analyst reverse-engineers the joins</a:t>
            </a:r>
          </a:p>
        </p:txBody>
      </p:sp>
      <p:sp>
        <p:nvSpPr>
          <p:cNvPr id="17" name="Oval 16"/>
          <p:cNvSpPr/>
          <p:nvPr/>
        </p:nvSpPr>
        <p:spPr>
          <a:xfrm>
            <a:off x="932688" y="4658868"/>
            <a:ext cx="146304" cy="146304"/>
          </a:xfrm>
          <a:prstGeom prst="ellipse">
            <a:avLst/>
          </a:prstGeom>
          <a:solidFill>
            <a:srgbClr val="BE2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25295" y="4608576"/>
            <a:ext cx="42579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A number arrives, with a caveat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5116068"/>
            <a:ext cx="146304" cy="146304"/>
          </a:xfrm>
          <a:prstGeom prst="ellipse">
            <a:avLst/>
          </a:prstGeom>
          <a:solidFill>
            <a:srgbClr val="BE2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25295" y="5065776"/>
            <a:ext cx="42579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The decision has already been made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1481328"/>
            <a:ext cx="5318607" cy="4315968"/>
          </a:xfrm>
          <a:prstGeom prst="rect">
            <a:avLst/>
          </a:prstGeom>
          <a:solidFill>
            <a:srgbClr val="FAFAFC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24447" y="1481328"/>
            <a:ext cx="5318607" cy="45720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4447" y="1700784"/>
            <a:ext cx="531860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spc="130">
                <a:solidFill>
                  <a:srgbClr val="0B7C63"/>
                </a:solidFill>
                <a:latin typeface="Segoe UI"/>
              </a:rPr>
              <a:t>WITH DATAPULSE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048256"/>
            <a:ext cx="5318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8200" b="1">
                <a:solidFill>
                  <a:srgbClr val="0B7C63"/>
                </a:solidFill>
                <a:latin typeface="Segoe UI Light"/>
              </a:rPr>
              <a:t>8</a:t>
            </a:r>
            <a:r>
              <a:rPr sz="2200" b="0">
                <a:solidFill>
                  <a:srgbClr val="78788A"/>
                </a:solidFill>
                <a:latin typeface="Segoe UI Light"/>
              </a:rPr>
              <a:t>  seconds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8767" y="3182112"/>
            <a:ext cx="47699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78788A"/>
                </a:solidFill>
                <a:latin typeface="Segoe UI"/>
              </a:rPr>
              <a:t>question → graph → agent → answer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73087" y="3529584"/>
            <a:ext cx="4221327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708495" y="3744468"/>
            <a:ext cx="146304" cy="146304"/>
          </a:xfrm>
          <a:prstGeom prst="ellipse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01103" y="3694176"/>
            <a:ext cx="42579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Asked in the browser, in plain English</a:t>
            </a:r>
          </a:p>
        </p:txBody>
      </p:sp>
      <p:sp>
        <p:nvSpPr>
          <p:cNvPr id="29" name="Oval 28"/>
          <p:cNvSpPr/>
          <p:nvPr/>
        </p:nvSpPr>
        <p:spPr>
          <a:xfrm>
            <a:off x="6708495" y="4201668"/>
            <a:ext cx="146304" cy="146304"/>
          </a:xfrm>
          <a:prstGeom prst="ellipse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01103" y="4151376"/>
            <a:ext cx="42579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The graph returns the exact join keys</a:t>
            </a:r>
          </a:p>
        </p:txBody>
      </p:sp>
      <p:sp>
        <p:nvSpPr>
          <p:cNvPr id="31" name="Oval 30"/>
          <p:cNvSpPr/>
          <p:nvPr/>
        </p:nvSpPr>
        <p:spPr>
          <a:xfrm>
            <a:off x="6708495" y="4658868"/>
            <a:ext cx="146304" cy="146304"/>
          </a:xfrm>
          <a:prstGeom prst="ellipse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01103" y="4608576"/>
            <a:ext cx="42579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The agent writes and runs the SQL</a:t>
            </a:r>
          </a:p>
        </p:txBody>
      </p:sp>
      <p:sp>
        <p:nvSpPr>
          <p:cNvPr id="33" name="Oval 32"/>
          <p:cNvSpPr/>
          <p:nvPr/>
        </p:nvSpPr>
        <p:spPr>
          <a:xfrm>
            <a:off x="6708495" y="5116068"/>
            <a:ext cx="146304" cy="146304"/>
          </a:xfrm>
          <a:prstGeom prst="ellipse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01103" y="5065776"/>
            <a:ext cx="42579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The answer arrives with its evidence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45454F"/>
                </a:solidFill>
                <a:latin typeface="Segoe UI"/>
              </a:rPr>
              <a:t>Roughly </a:t>
            </a:r>
            <a:r>
              <a:rPr sz="1350" b="1">
                <a:solidFill>
                  <a:srgbClr val="6D00B3"/>
                </a:solidFill>
                <a:latin typeface="Segoe UI"/>
              </a:rPr>
              <a:t>43,000× faster</a:t>
            </a:r>
            <a:r>
              <a:rPr sz="1200" b="0">
                <a:solidFill>
                  <a:srgbClr val="45454F"/>
                </a:solidFill>
                <a:latin typeface="Segoe UI"/>
              </a:rPr>
              <a:t> — and the analyst is freed for work only they can do.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WHY LLMS ALONE FAIL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Four ways confident SQL goes quietly wrong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2609011" cy="3163824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81328"/>
            <a:ext cx="2609011" cy="45720"/>
          </a:xfrm>
          <a:prstGeom prst="rect">
            <a:avLst/>
          </a:prstGeom>
          <a:solidFill>
            <a:srgbClr val="BE2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664208"/>
            <a:ext cx="1280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>
                <a:solidFill>
                  <a:srgbClr val="ECD9D8"/>
                </a:solidFill>
                <a:latin typeface="Segoe UI Ligh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615184"/>
            <a:ext cx="213352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111119"/>
                </a:solidFill>
                <a:latin typeface="Segoe UI"/>
              </a:rPr>
              <a:t>Too much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054096"/>
            <a:ext cx="213352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40" b="0">
                <a:solidFill>
                  <a:srgbClr val="45454F"/>
                </a:solidFill>
                <a:latin typeface="Segoe UI"/>
              </a:rPr>
              <a:t>373 columns in the prompt.
Attention spreads thin.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" y="3968496"/>
            <a:ext cx="2133523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114800"/>
            <a:ext cx="2133523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940" b="1">
                <a:solidFill>
                  <a:srgbClr val="BE2F2A"/>
                </a:solidFill>
                <a:latin typeface="Segoe UI"/>
              </a:rPr>
              <a:t>picks a plausible wrong column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77107" y="1481328"/>
            <a:ext cx="2609011" cy="3163824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7107" y="1481328"/>
            <a:ext cx="2609011" cy="45720"/>
          </a:xfrm>
          <a:prstGeom prst="rect">
            <a:avLst/>
          </a:prstGeom>
          <a:solidFill>
            <a:srgbClr val="BE2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6563" y="1664208"/>
            <a:ext cx="1280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>
                <a:solidFill>
                  <a:srgbClr val="ECD9D8"/>
                </a:solidFill>
                <a:latin typeface="Segoe UI Light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4851" y="2615184"/>
            <a:ext cx="213352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111119"/>
                </a:solidFill>
                <a:latin typeface="Segoe UI"/>
              </a:rPr>
              <a:t>Invented joins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4851" y="3054096"/>
            <a:ext cx="213352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40" b="0">
                <a:solidFill>
                  <a:srgbClr val="45454F"/>
                </a:solidFill>
                <a:latin typeface="Segoe UI"/>
              </a:rPr>
              <a:t>Foreign keys are not in
the DDL the model sees.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4851" y="3968496"/>
            <a:ext cx="2133523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4851" y="4114800"/>
            <a:ext cx="2133523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940" b="1">
                <a:solidFill>
                  <a:srgbClr val="BE2F2A"/>
                </a:solidFill>
                <a:latin typeface="Segoe UI"/>
              </a:rPr>
              <a:t>guesses the key, skews the count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5575" y="1481328"/>
            <a:ext cx="2609011" cy="3163824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05575" y="1481328"/>
            <a:ext cx="2609011" cy="45720"/>
          </a:xfrm>
          <a:prstGeom prst="rect">
            <a:avLst/>
          </a:prstGeom>
          <a:solidFill>
            <a:srgbClr val="BE2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5031" y="1664208"/>
            <a:ext cx="1280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>
                <a:solidFill>
                  <a:srgbClr val="ECD9D8"/>
                </a:solidFill>
                <a:latin typeface="Segoe UI Light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3319" y="2615184"/>
            <a:ext cx="213352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111119"/>
                </a:solidFill>
                <a:latin typeface="Segoe UI"/>
              </a:rPr>
              <a:t>Contested words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3319" y="3054096"/>
            <a:ext cx="213352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40" b="0">
                <a:solidFill>
                  <a:srgbClr val="45454F"/>
                </a:solidFill>
                <a:latin typeface="Segoe UI"/>
              </a:rPr>
              <a:t>“Revenue” matches two
numeric columns.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3319" y="3968496"/>
            <a:ext cx="2133523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3319" y="4114800"/>
            <a:ext cx="2133523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940" b="1">
                <a:solidFill>
                  <a:srgbClr val="BE2F2A"/>
                </a:solidFill>
                <a:latin typeface="Segoe UI"/>
              </a:rPr>
              <a:t>3.8× apart — both look right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4043" y="1481328"/>
            <a:ext cx="2609011" cy="3163824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34043" y="1481328"/>
            <a:ext cx="2609011" cy="45720"/>
          </a:xfrm>
          <a:prstGeom prst="rect">
            <a:avLst/>
          </a:prstGeom>
          <a:solidFill>
            <a:srgbClr val="BE2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53499" y="1664208"/>
            <a:ext cx="1280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>
                <a:solidFill>
                  <a:srgbClr val="ECD9D8"/>
                </a:solidFill>
                <a:latin typeface="Segoe UI Light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1787" y="2615184"/>
            <a:ext cx="213352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111119"/>
                </a:solidFill>
                <a:latin typeface="Segoe UI"/>
              </a:rPr>
              <a:t>No 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1787" y="3054096"/>
            <a:ext cx="213352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40" b="0">
                <a:solidFill>
                  <a:srgbClr val="45454F"/>
                </a:solidFill>
                <a:latin typeface="Segoe UI"/>
              </a:rPr>
              <a:t>One opaque generation.
Nothing to inspect.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71787" y="3968496"/>
            <a:ext cx="2133523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71787" y="4114800"/>
            <a:ext cx="2133523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940" b="1">
                <a:solidFill>
                  <a:srgbClr val="BE2F2A"/>
                </a:solidFill>
                <a:latin typeface="Segoe UI"/>
              </a:rPr>
              <a:t>confident, and unauditable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882896"/>
            <a:ext cx="11094415" cy="932688"/>
          </a:xfrm>
          <a:prstGeom prst="rect">
            <a:avLst/>
          </a:prstGeom>
          <a:solidFill>
            <a:srgbClr val="EFEFF4"/>
          </a:solidFill>
          <a:ln w="1778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882896"/>
            <a:ext cx="50292" cy="93268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7" y="5065776"/>
            <a:ext cx="104360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11119"/>
                </a:solidFill>
                <a:latin typeface="Segoe UI"/>
              </a:rPr>
              <a:t>All four are one failure: the model is asked to plan a query with no map of the schema.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7" y="5431536"/>
            <a:ext cx="1043604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0">
                <a:solidFill>
                  <a:srgbClr val="6D00B3"/>
                </a:solidFill>
                <a:latin typeface="Segoe UI"/>
              </a:rPr>
              <a:t>The fix is not a bigger model. It is giving the model the structure as fact.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FAILURE 03, IN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One question. Two columns. A 3.8× gap.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999232"/>
            <a:ext cx="2651760" cy="7863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1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999232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11119"/>
                </a:solidFill>
                <a:latin typeface="Segoe UI"/>
              </a:rPr>
              <a:t>“total revenue?”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3200400" y="2395728"/>
            <a:ext cx="640080" cy="996696"/>
          </a:xfrm>
          <a:prstGeom prst="line">
            <a:avLst/>
          </a:prstGeom>
          <a:ln w="15875">
            <a:solidFill>
              <a:srgbClr val="C6C6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00400" y="3392424"/>
            <a:ext cx="640080" cy="1014984"/>
          </a:xfrm>
          <a:prstGeom prst="line">
            <a:avLst/>
          </a:prstGeom>
          <a:ln w="15875">
            <a:solidFill>
              <a:srgbClr val="C6C6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840480" y="2084831"/>
            <a:ext cx="5532120" cy="786384"/>
          </a:xfrm>
          <a:prstGeom prst="rect">
            <a:avLst/>
          </a:prstGeom>
          <a:solidFill>
            <a:srgbClr val="FFFFFF"/>
          </a:solidFill>
          <a:ln w="20320">
            <a:solidFill>
              <a:srgbClr val="BE2F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2084831"/>
            <a:ext cx="45720" cy="786384"/>
          </a:xfrm>
          <a:prstGeom prst="rect">
            <a:avLst/>
          </a:prstGeom>
          <a:solidFill>
            <a:srgbClr val="BE2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59936" y="2212848"/>
            <a:ext cx="2834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11119"/>
                </a:solidFill>
                <a:latin typeface="Consolas"/>
              </a:rPr>
              <a:t>invoices.amount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936" y="2487168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8788A"/>
                </a:solidFill>
                <a:latin typeface="Segoe UI"/>
              </a:rPr>
              <a:t>invoiced to date — a different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4304" y="2304287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BE2F2A"/>
                </a:solidFill>
                <a:latin typeface="Segoe UI"/>
              </a:rPr>
              <a:t>$2,030,281.53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55480" y="2322576"/>
            <a:ext cx="1188720" cy="310896"/>
          </a:xfrm>
          <a:prstGeom prst="rect">
            <a:avLst/>
          </a:prstGeom>
          <a:solidFill>
            <a:srgbClr val="BE2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55480" y="2322576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860" b="1">
                <a:solidFill>
                  <a:srgbClr val="FFFFFF"/>
                </a:solidFill>
                <a:latin typeface="Segoe UI"/>
              </a:rPr>
              <a:t>WRONG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0" y="4096512"/>
            <a:ext cx="5532120" cy="786384"/>
          </a:xfrm>
          <a:prstGeom prst="rect">
            <a:avLst/>
          </a:prstGeom>
          <a:solidFill>
            <a:srgbClr val="FFFFFF"/>
          </a:solidFill>
          <a:ln w="20320">
            <a:solidFill>
              <a:srgbClr val="0B7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0" y="4096512"/>
            <a:ext cx="45720" cy="786384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59936" y="4224528"/>
            <a:ext cx="2834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11119"/>
                </a:solidFill>
                <a:latin typeface="Consolas"/>
              </a:rPr>
              <a:t>order_items.line_total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9936" y="4498848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8788A"/>
                </a:solidFill>
                <a:latin typeface="Segoe UI"/>
              </a:rPr>
              <a:t>the canonical revenue measure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4304" y="4315968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7C63"/>
                </a:solidFill>
                <a:latin typeface="Segoe UI"/>
              </a:rPr>
              <a:t>$7,782,964.89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55480" y="4334256"/>
            <a:ext cx="1188720" cy="310896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4334256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860" b="1">
                <a:solidFill>
                  <a:srgbClr val="FFFFFF"/>
                </a:solidFill>
                <a:latin typeface="Segoe UI"/>
              </a:rPr>
              <a:t>CORRECT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138928"/>
            <a:ext cx="11094415" cy="859536"/>
          </a:xfrm>
          <a:prstGeom prst="rect">
            <a:avLst/>
          </a:prstGeom>
          <a:solidFill>
            <a:srgbClr val="EFEFF4"/>
          </a:solidFill>
          <a:ln w="1778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138928"/>
            <a:ext cx="50292" cy="859536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5266944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spc="120">
                <a:solidFill>
                  <a:srgbClr val="6D00B3"/>
                </a:solidFill>
                <a:latin typeface="Segoe UI"/>
              </a:rPr>
              <a:t>HOW THE GRAPH SETTLES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" y="554126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11119"/>
                </a:solidFill>
                <a:latin typeface="Segoe UI"/>
              </a:rPr>
              <a:t>13 canonical metrics, stored as nodes.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5340096"/>
            <a:ext cx="5349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5468112"/>
            <a:ext cx="5029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>
                <a:solidFill>
                  <a:srgbClr val="0A6BAF"/>
                </a:solidFill>
                <a:latin typeface="Consolas"/>
              </a:rPr>
              <a:t>total revenue  =  SUM(order_items.line_total)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A007A"/>
              </a:gs>
              <a:gs pos="100000">
                <a:srgbClr val="A100FF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050" b="0">
                <a:solidFill>
                  <a:srgbClr val="45454F"/>
                </a:solidFill>
                <a:latin typeface="Segoe U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95728"/>
            <a:ext cx="2743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1000" b="1">
                <a:solidFill>
                  <a:srgbClr val="C98AF5"/>
                </a:solidFill>
                <a:latin typeface="Segoe UI Light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2615184"/>
            <a:ext cx="18288" cy="1005840"/>
          </a:xfrm>
          <a:prstGeom prst="rect">
            <a:avLst/>
          </a:prstGeom>
          <a:solidFill>
            <a:srgbClr val="C98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80944" y="267004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E4C6FC"/>
                </a:solidFill>
                <a:latin typeface="Segoe UI"/>
              </a:rPr>
              <a:t>SECTION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80944" y="2926080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The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0944" y="358444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DDBCF8"/>
                </a:solidFill>
                <a:latin typeface="Segoe UI"/>
              </a:rPr>
              <a:t>Separate the plan from the data. Everything follows.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THE CORE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Two stores. Two jobs. Never confused.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227167" cy="3749039"/>
          </a:xfrm>
          <a:prstGeom prst="rect">
            <a:avLst/>
          </a:prstGeom>
          <a:solidFill>
            <a:srgbClr val="F6F6F9"/>
          </a:solidFill>
          <a:ln w="20320">
            <a:solidFill>
              <a:srgbClr val="6D00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81328"/>
            <a:ext cx="5227167" cy="54864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522716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6D00B3"/>
                </a:solidFill>
                <a:latin typeface="Segoe UI Light"/>
              </a:rPr>
              <a:t>Neo4j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94560"/>
            <a:ext cx="52271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78788A"/>
                </a:solidFill>
                <a:latin typeface="Segoe UI"/>
              </a:rPr>
              <a:t>the knowledge graph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9263" y="2542032"/>
            <a:ext cx="1645920" cy="36576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9263" y="2542032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40" b="1">
                <a:solidFill>
                  <a:srgbClr val="FFFFFF"/>
                </a:solidFill>
                <a:latin typeface="Segoe UI"/>
              </a:rPr>
              <a:t>PLANS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" y="3127248"/>
            <a:ext cx="4605375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236976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119"/>
                </a:solidFill>
                <a:latin typeface="Segoe UI"/>
              </a:rPr>
              <a:t>441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282696"/>
            <a:ext cx="325206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5454F"/>
                </a:solidFill>
                <a:latin typeface="Segoe UI"/>
              </a:rPr>
              <a:t>nodes of schema metadata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9536" y="3621024"/>
            <a:ext cx="4605375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3730752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119"/>
                </a:solidFill>
                <a:latin typeface="Segoe UI"/>
              </a:rPr>
              <a:t>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3776472"/>
            <a:ext cx="325206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5454F"/>
                </a:solidFill>
                <a:latin typeface="Segoe UI"/>
              </a:rPr>
              <a:t>join edges with exact keys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" y="4114800"/>
            <a:ext cx="4605375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22452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119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4270248"/>
            <a:ext cx="325206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5454F"/>
                </a:solidFill>
                <a:latin typeface="Segoe UI"/>
              </a:rPr>
              <a:t>vector indexes, 384-d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" y="4608576"/>
            <a:ext cx="4605375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718304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119"/>
                </a:solidFill>
                <a:latin typeface="Segoe U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764024"/>
            <a:ext cx="325206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5454F"/>
                </a:solidFill>
                <a:latin typeface="Segoe UI"/>
              </a:rPr>
              <a:t>rows of business data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15887" y="1481328"/>
            <a:ext cx="5227167" cy="3749039"/>
          </a:xfrm>
          <a:prstGeom prst="rect">
            <a:avLst/>
          </a:prstGeom>
          <a:solidFill>
            <a:srgbClr val="F6F6F9"/>
          </a:solidFill>
          <a:ln w="20320">
            <a:solidFill>
              <a:srgbClr val="0A6B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15887" y="1481328"/>
            <a:ext cx="5227167" cy="54864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5887" y="1737360"/>
            <a:ext cx="522716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0A6BAF"/>
                </a:solidFill>
                <a:latin typeface="Segoe UI Light"/>
              </a:rPr>
              <a:t>SQLite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5887" y="2194560"/>
            <a:ext cx="52271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78788A"/>
                </a:solidFill>
                <a:latin typeface="Segoe UI"/>
              </a:rPr>
              <a:t>the execution store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06511" y="2542032"/>
            <a:ext cx="1645920" cy="365760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6511" y="2542032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40" b="1">
                <a:solidFill>
                  <a:srgbClr val="FFFFFF"/>
                </a:solidFill>
                <a:latin typeface="Segoe UI"/>
              </a:rPr>
              <a:t>EXECUTES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26783" y="3127248"/>
            <a:ext cx="4605375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6783" y="3236976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119"/>
                </a:solidFill>
                <a:latin typeface="Segoe UI"/>
              </a:rPr>
              <a:t>23,293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61807" y="3282696"/>
            <a:ext cx="325206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5454F"/>
                </a:solidFill>
                <a:latin typeface="Segoe UI"/>
              </a:rPr>
              <a:t>rows of business data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26783" y="3621024"/>
            <a:ext cx="4605375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6783" y="3730752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119"/>
                </a:solidFill>
                <a:latin typeface="Segoe UI"/>
              </a:rPr>
              <a:t>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1807" y="3776472"/>
            <a:ext cx="325206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5454F"/>
                </a:solidFill>
                <a:latin typeface="Segoe UI"/>
              </a:rPr>
              <a:t>tables, opened read-only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26783" y="4114800"/>
            <a:ext cx="4605375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6783" y="422452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119"/>
                </a:solidFill>
                <a:latin typeface="Segoe UI"/>
              </a:rPr>
              <a:t>5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61807" y="4270248"/>
            <a:ext cx="325206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5454F"/>
                </a:solidFill>
                <a:latin typeface="Segoe UI"/>
              </a:rPr>
              <a:t>statement timeout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26783" y="4608576"/>
            <a:ext cx="4605375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26783" y="4718304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119"/>
                </a:solidFill>
                <a:latin typeface="Segoe UI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61807" y="4764024"/>
            <a:ext cx="325206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5454F"/>
                </a:solidFill>
                <a:latin typeface="Segoe UI"/>
              </a:rPr>
              <a:t>writes ever permitted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95847" y="1737360"/>
            <a:ext cx="0" cy="3236976"/>
          </a:xfrm>
          <a:prstGeom prst="line">
            <a:avLst/>
          </a:prstGeom>
          <a:ln w="15875">
            <a:solidFill>
              <a:srgbClr val="C6C6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5711799" y="3145536"/>
            <a:ext cx="768096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6C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11799" y="3145536"/>
            <a:ext cx="7680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78788A"/>
                </a:solidFill>
                <a:latin typeface="Segoe UI"/>
              </a:rPr>
              <a:t>vs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449824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45454F"/>
                </a:solidFill>
                <a:latin typeface="Segoe UI"/>
              </a:rPr>
              <a:t>Row values live only in SQLite. </a:t>
            </a:r>
            <a:r>
              <a:rPr sz="1250" b="1">
                <a:solidFill>
                  <a:srgbClr val="6D00B3"/>
                </a:solidFill>
                <a:latin typeface="Segoe UI"/>
              </a:rPr>
              <a:t>So regenerating the data never rebuilds the graph.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INSIDE THE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What the schema looks like as a graph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944368"/>
            <a:ext cx="1225296" cy="4937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916936"/>
            <a:ext cx="1225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1">
                <a:solidFill>
                  <a:srgbClr val="A100FF"/>
                </a:solidFill>
                <a:latin typeface="Consolas"/>
              </a:rPr>
              <a:t>:Domain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91256"/>
            <a:ext cx="12252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Sales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31136" y="1883664"/>
            <a:ext cx="1700784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00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31136" y="1883664"/>
            <a:ext cx="17007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6D00B3"/>
                </a:solidFill>
                <a:latin typeface="Consolas"/>
              </a:rPr>
              <a:t>customers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1773936" y="2121408"/>
            <a:ext cx="457200" cy="1069848"/>
          </a:xfrm>
          <a:prstGeom prst="line">
            <a:avLst/>
          </a:prstGeom>
          <a:ln w="15875">
            <a:solidFill>
              <a:srgbClr val="C49B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231136" y="2953512"/>
            <a:ext cx="1700784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00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31136" y="2953512"/>
            <a:ext cx="17007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6D00B3"/>
                </a:solidFill>
                <a:latin typeface="Consolas"/>
              </a:rPr>
              <a:t>orders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773936" y="3191256"/>
            <a:ext cx="457200" cy="0"/>
          </a:xfrm>
          <a:prstGeom prst="line">
            <a:avLst/>
          </a:prstGeom>
          <a:ln w="15875">
            <a:solidFill>
              <a:srgbClr val="C49B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231136" y="4023360"/>
            <a:ext cx="1700784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00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31136" y="4023360"/>
            <a:ext cx="17007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6D00B3"/>
                </a:solidFill>
                <a:latin typeface="Consolas"/>
              </a:rPr>
              <a:t>order_items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773936" y="3191256"/>
            <a:ext cx="457200" cy="1069848"/>
          </a:xfrm>
          <a:prstGeom prst="line">
            <a:avLst/>
          </a:prstGeom>
          <a:ln w="15875">
            <a:solidFill>
              <a:srgbClr val="C49B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081528" y="2359152"/>
            <a:ext cx="0" cy="594360"/>
          </a:xfrm>
          <a:prstGeom prst="line">
            <a:avLst/>
          </a:prstGeom>
          <a:ln w="22225">
            <a:solidFill>
              <a:srgbClr val="A1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Up Arrow 19"/>
          <p:cNvSpPr/>
          <p:nvPr/>
        </p:nvSpPr>
        <p:spPr>
          <a:xfrm>
            <a:off x="3012948" y="2377440"/>
            <a:ext cx="137160" cy="128016"/>
          </a:xfrm>
          <a:prstGeom prst="up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46120" y="248716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6D00B3"/>
                </a:solidFill>
                <a:latin typeface="Consolas"/>
              </a:rPr>
              <a:t>customer_id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3081528" y="3429000"/>
            <a:ext cx="0" cy="594360"/>
          </a:xfrm>
          <a:prstGeom prst="line">
            <a:avLst/>
          </a:prstGeom>
          <a:ln w="22225">
            <a:solidFill>
              <a:srgbClr val="A1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Up Arrow 22"/>
          <p:cNvSpPr/>
          <p:nvPr/>
        </p:nvSpPr>
        <p:spPr>
          <a:xfrm>
            <a:off x="3012948" y="3447288"/>
            <a:ext cx="137160" cy="128016"/>
          </a:xfrm>
          <a:prstGeom prst="up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3557016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6D00B3"/>
                </a:solidFill>
                <a:latin typeface="Consolas"/>
              </a:rPr>
              <a:t>order_id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43984" y="2615184"/>
            <a:ext cx="1517904" cy="310896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43984" y="2615184"/>
            <a:ext cx="15179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840" b="1">
                <a:solidFill>
                  <a:srgbClr val="45454F"/>
                </a:solidFill>
                <a:latin typeface="Consolas"/>
              </a:rPr>
              <a:t>order_id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3931920" y="2770632"/>
            <a:ext cx="512064" cy="420624"/>
          </a:xfrm>
          <a:prstGeom prst="line">
            <a:avLst/>
          </a:prstGeom>
          <a:ln w="12700">
            <a:solidFill>
              <a:srgbClr val="C6C6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4443984" y="3017520"/>
            <a:ext cx="1517904" cy="310896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43984" y="3017520"/>
            <a:ext cx="15179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840" b="1">
                <a:solidFill>
                  <a:srgbClr val="45454F"/>
                </a:solidFill>
                <a:latin typeface="Consolas"/>
              </a:rPr>
              <a:t>customer_id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3931920" y="3172968"/>
            <a:ext cx="512064" cy="18288"/>
          </a:xfrm>
          <a:prstGeom prst="line">
            <a:avLst/>
          </a:prstGeom>
          <a:ln w="12700">
            <a:solidFill>
              <a:srgbClr val="C6C6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443984" y="3419856"/>
            <a:ext cx="1517904" cy="310896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43984" y="3419856"/>
            <a:ext cx="15179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840" b="1">
                <a:solidFill>
                  <a:srgbClr val="45454F"/>
                </a:solidFill>
                <a:latin typeface="Consolas"/>
              </a:rPr>
              <a:t>order_date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931920" y="3191256"/>
            <a:ext cx="512064" cy="384047"/>
          </a:xfrm>
          <a:prstGeom prst="line">
            <a:avLst/>
          </a:prstGeom>
          <a:ln w="12700">
            <a:solidFill>
              <a:srgbClr val="C6C6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443984" y="3877056"/>
            <a:ext cx="15179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8788A"/>
                </a:solidFill>
                <a:latin typeface="Segoe UI"/>
              </a:rPr>
              <a:t>+ 370 more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626864"/>
            <a:ext cx="1225296" cy="4937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7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599432"/>
            <a:ext cx="1225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1">
                <a:solidFill>
                  <a:srgbClr val="0B7C63"/>
                </a:solidFill>
                <a:latin typeface="Consolas"/>
              </a:rPr>
              <a:t>:Metric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873752"/>
            <a:ext cx="12252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revenue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1773936" y="4261104"/>
            <a:ext cx="457200" cy="612648"/>
          </a:xfrm>
          <a:prstGeom prst="line">
            <a:avLst/>
          </a:prstGeom>
          <a:ln w="19050">
            <a:solidFill>
              <a:srgbClr val="B8DE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548640" y="5431536"/>
            <a:ext cx="6053328" cy="566928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9808" y="5696712"/>
            <a:ext cx="274320" cy="41148"/>
          </a:xfrm>
          <a:prstGeom prst="rect">
            <a:avLst/>
          </a:prstGeom>
          <a:solidFill>
            <a:srgbClr val="C49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5568" y="5623560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45454F"/>
                </a:solidFill>
                <a:latin typeface="Consolas"/>
              </a:rPr>
              <a:t>:HAS_TABLE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31136" y="5696712"/>
            <a:ext cx="274320" cy="41148"/>
          </a:xfrm>
          <a:prstGeom prst="rect">
            <a:avLst/>
          </a:prstGeom>
          <a:solidFill>
            <a:srgbClr val="C6C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96896" y="5623560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45454F"/>
                </a:solidFill>
                <a:latin typeface="Consolas"/>
              </a:rPr>
              <a:t>:HAS_COLUMN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12464" y="5696712"/>
            <a:ext cx="274320" cy="4114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78224" y="5623560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45454F"/>
                </a:solidFill>
                <a:latin typeface="Consolas"/>
              </a:rPr>
              <a:t>:REFERENCES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93792" y="5696712"/>
            <a:ext cx="274320" cy="41148"/>
          </a:xfrm>
          <a:prstGeom prst="rect">
            <a:avLst/>
          </a:prstGeom>
          <a:solidFill>
            <a:srgbClr val="B8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59552" y="5623560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45454F"/>
                </a:solidFill>
                <a:latin typeface="Consolas"/>
              </a:rPr>
              <a:t>:OWNS_METRIC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84848" y="1481328"/>
            <a:ext cx="2337663" cy="841248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784848" y="1481328"/>
            <a:ext cx="2337663" cy="457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84848" y="1700052"/>
            <a:ext cx="233766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111119"/>
                </a:solidFill>
                <a:latin typeface="Segoe UI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4848" y="2036551"/>
            <a:ext cx="2337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6D00B3"/>
                </a:solidFill>
                <a:latin typeface="Segoe UI"/>
              </a:rPr>
              <a:t>DOMAIN NODES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84848" y="2414016"/>
            <a:ext cx="2337663" cy="841248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784848" y="2414016"/>
            <a:ext cx="2337663" cy="457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84848" y="2632740"/>
            <a:ext cx="233766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111119"/>
                </a:solidFill>
                <a:latin typeface="Segoe UI"/>
              </a:rPr>
              <a:t>373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4848" y="2969239"/>
            <a:ext cx="2337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6D00B3"/>
                </a:solidFill>
                <a:latin typeface="Segoe UI"/>
              </a:rPr>
              <a:t>COLUMN NODES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05391" y="1481328"/>
            <a:ext cx="2337663" cy="841248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305391" y="1481328"/>
            <a:ext cx="2337663" cy="457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05391" y="1700052"/>
            <a:ext cx="233766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111119"/>
                </a:solidFill>
                <a:latin typeface="Segoe UI"/>
              </a:rPr>
              <a:t>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05391" y="2036551"/>
            <a:ext cx="2337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6D00B3"/>
                </a:solidFill>
                <a:latin typeface="Segoe UI"/>
              </a:rPr>
              <a:t>TABLE NODES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305391" y="2414016"/>
            <a:ext cx="2337663" cy="841248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305391" y="2414016"/>
            <a:ext cx="2337663" cy="45720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305391" y="2632740"/>
            <a:ext cx="233766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111119"/>
                </a:solidFill>
                <a:latin typeface="Segoe UI"/>
              </a:rPr>
              <a:t>13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05391" y="2969239"/>
            <a:ext cx="2337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0B7C63"/>
                </a:solidFill>
                <a:latin typeface="Segoe UI"/>
              </a:rPr>
              <a:t>METRIC NODES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784848" y="3493008"/>
            <a:ext cx="4858207" cy="1335024"/>
          </a:xfrm>
          <a:prstGeom prst="rect">
            <a:avLst/>
          </a:prstGeom>
          <a:solidFill>
            <a:srgbClr val="EFEFF4"/>
          </a:solidFill>
          <a:ln w="1778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784848" y="3493008"/>
            <a:ext cx="50292" cy="133502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9168" y="3675887"/>
            <a:ext cx="42912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spc="120">
                <a:solidFill>
                  <a:srgbClr val="6D00B3"/>
                </a:solidFill>
                <a:latin typeface="Segoe UI"/>
              </a:rPr>
              <a:t>WHY :REFERENCES MATTERS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59168" y="3968496"/>
            <a:ext cx="42912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40" b="1">
                <a:solidFill>
                  <a:srgbClr val="111119"/>
                </a:solidFill>
                <a:latin typeface="Segoe UI"/>
              </a:rPr>
              <a:t>Each edge carries the join columns as properties.</a:t>
            </a:r>
          </a:p>
          <a:p>
            <a:pPr algn="l">
              <a:lnSpc>
                <a:spcPct val="128000"/>
              </a:lnSpc>
            </a:pPr>
            <a:r>
              <a:rPr sz="1060" b="0">
                <a:solidFill>
                  <a:srgbClr val="45454F"/>
                </a:solidFill>
                <a:latin typeface="Segoe UI"/>
              </a:rPr>
              <a:t>So “how do these tables join?” stops being a guess and becomes a shortest-path query.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84848" y="4974336"/>
            <a:ext cx="4858207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059168" y="5138928"/>
            <a:ext cx="42912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spc="120">
                <a:solidFill>
                  <a:srgbClr val="78788A"/>
                </a:solidFill>
                <a:latin typeface="Segoe UI"/>
              </a:rPr>
              <a:t>STORED HERE, NEVER GUESSED</a:t>
            </a:r>
          </a:p>
        </p:txBody>
      </p:sp>
      <p:sp>
        <p:nvSpPr>
          <p:cNvPr id="70" name="Oval 69"/>
          <p:cNvSpPr/>
          <p:nvPr/>
        </p:nvSpPr>
        <p:spPr>
          <a:xfrm>
            <a:off x="7059168" y="5468112"/>
            <a:ext cx="118872" cy="118872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260336" y="5413248"/>
            <a:ext cx="13167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>
                <a:solidFill>
                  <a:srgbClr val="45454F"/>
                </a:solidFill>
                <a:latin typeface="Segoe UI"/>
              </a:rPr>
              <a:t>exact join keys</a:t>
            </a:r>
          </a:p>
        </p:txBody>
      </p:sp>
      <p:sp>
        <p:nvSpPr>
          <p:cNvPr id="72" name="Oval 71"/>
          <p:cNvSpPr/>
          <p:nvPr/>
        </p:nvSpPr>
        <p:spPr>
          <a:xfrm>
            <a:off x="8540496" y="5468112"/>
            <a:ext cx="118872" cy="118872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41664" y="5413248"/>
            <a:ext cx="13167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>
                <a:solidFill>
                  <a:srgbClr val="45454F"/>
                </a:solidFill>
                <a:latin typeface="Segoe UI"/>
              </a:rPr>
              <a:t>canonical metrics</a:t>
            </a:r>
          </a:p>
        </p:txBody>
      </p:sp>
      <p:sp>
        <p:nvSpPr>
          <p:cNvPr id="74" name="Oval 73"/>
          <p:cNvSpPr/>
          <p:nvPr/>
        </p:nvSpPr>
        <p:spPr>
          <a:xfrm>
            <a:off x="10021824" y="5468112"/>
            <a:ext cx="118872" cy="118872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222992" y="5413248"/>
            <a:ext cx="13167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>
                <a:solidFill>
                  <a:srgbClr val="45454F"/>
                </a:solidFill>
                <a:latin typeface="Segoe UI"/>
              </a:rPr>
              <a:t>column aliases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How 373 columns become the 4 that matter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2367" y="1481328"/>
            <a:ext cx="9966960" cy="768096"/>
          </a:xfrm>
          <a:prstGeom prst="rect">
            <a:avLst/>
          </a:prstGeom>
          <a:solidFill>
            <a:srgbClr val="EED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23263" y="1645920"/>
            <a:ext cx="14173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1119"/>
                </a:solidFill>
                <a:latin typeface="Segoe UI Light"/>
              </a:rPr>
              <a:t>373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8599" y="1627632"/>
            <a:ext cx="78364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11119"/>
                </a:solidFill>
                <a:latin typeface="Segoe UI"/>
              </a:rPr>
              <a:t>columns across 50 tables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8599" y="1901952"/>
            <a:ext cx="7836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8788A"/>
                </a:solidFill>
                <a:latin typeface="Segoe UI"/>
              </a:rPr>
              <a:t>the whole catalogue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6013551" y="2253996"/>
            <a:ext cx="164592" cy="155448"/>
          </a:xfrm>
          <a:prstGeom prst="downArrow">
            <a:avLst/>
          </a:prstGeom>
          <a:solidFill>
            <a:srgbClr val="C6C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63927" y="2414016"/>
            <a:ext cx="7863840" cy="768096"/>
          </a:xfrm>
          <a:prstGeom prst="rect">
            <a:avLst/>
          </a:prstGeom>
          <a:solidFill>
            <a:srgbClr val="D5B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4823" y="2578608"/>
            <a:ext cx="14173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11119"/>
                </a:solidFill>
                <a:latin typeface="Segoe UI Light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0159" y="2560320"/>
            <a:ext cx="57332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11119"/>
                </a:solidFill>
                <a:latin typeface="Segoe UI"/>
              </a:rPr>
              <a:t>candidate columns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0159" y="2834640"/>
            <a:ext cx="57332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8788A"/>
                </a:solidFill>
                <a:latin typeface="Segoe UI"/>
              </a:rPr>
              <a:t>vector search + domain boost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13551" y="3186684"/>
            <a:ext cx="164592" cy="155448"/>
          </a:xfrm>
          <a:prstGeom prst="downArrow">
            <a:avLst/>
          </a:prstGeom>
          <a:solidFill>
            <a:srgbClr val="C6C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69767" y="3346704"/>
            <a:ext cx="5852160" cy="768096"/>
          </a:xfrm>
          <a:prstGeom prst="rect">
            <a:avLst/>
          </a:prstGeom>
          <a:solidFill>
            <a:srgbClr val="B06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80663" y="3511296"/>
            <a:ext cx="14173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 Light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5999" y="3493008"/>
            <a:ext cx="37216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seed tables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5999" y="3767328"/>
            <a:ext cx="37216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FFFFFF"/>
                </a:solidFill>
                <a:latin typeface="Segoe UI"/>
              </a:rPr>
              <a:t>ranked by similarity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6013551" y="4119372"/>
            <a:ext cx="164592" cy="155448"/>
          </a:xfrm>
          <a:prstGeom prst="downArrow">
            <a:avLst/>
          </a:prstGeom>
          <a:solidFill>
            <a:srgbClr val="C6C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92727" y="4279392"/>
            <a:ext cx="4206240" cy="768096"/>
          </a:xfrm>
          <a:prstGeom prst="rect">
            <a:avLst/>
          </a:prstGeom>
          <a:solidFill>
            <a:srgbClr val="8A2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03623" y="4443983"/>
            <a:ext cx="117774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Segoe UI Ligh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09386" y="4425696"/>
            <a:ext cx="23152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tables · 3 joins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09386" y="4700016"/>
            <a:ext cx="23152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FFFFFF"/>
                </a:solidFill>
                <a:latin typeface="Segoe UI"/>
              </a:rPr>
              <a:t>after path expansion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266944"/>
            <a:ext cx="11094415" cy="786384"/>
          </a:xfrm>
          <a:prstGeom prst="rect">
            <a:avLst/>
          </a:prstGeom>
          <a:solidFill>
            <a:srgbClr val="EFEFF4"/>
          </a:solidFill>
          <a:ln w="1778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266944"/>
            <a:ext cx="50292" cy="78638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7" y="5413248"/>
            <a:ext cx="104360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11119"/>
                </a:solidFill>
                <a:latin typeface="Segoe UI"/>
              </a:rPr>
              <a:t>The funnel is flat: 8 seed tables whether the catalogue holds 50 or 5,000.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" y="5742431"/>
            <a:ext cx="1043604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>
                <a:solidFill>
                  <a:srgbClr val="6D00B3"/>
                </a:solidFill>
                <a:latin typeface="Segoe UI"/>
              </a:rPr>
              <a:t>Scale moves out of the prompt and into an indexed vector search.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THE REASONING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The model investigates before it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54680" y="1709928"/>
            <a:ext cx="1847088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00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54680" y="1719072"/>
            <a:ext cx="18470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6D00B3"/>
                </a:solidFill>
                <a:latin typeface="Segoe UI"/>
              </a:rPr>
              <a:t>Model decides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1993392"/>
            <a:ext cx="18470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which tool to 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66944" y="3136392"/>
            <a:ext cx="1847088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00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66944" y="3145536"/>
            <a:ext cx="18470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6D00B3"/>
                </a:solidFill>
                <a:latin typeface="Segoe UI"/>
              </a:rPr>
              <a:t>Tool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66944" y="3419856"/>
            <a:ext cx="18470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graph or database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4562856"/>
            <a:ext cx="1847088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00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4572000"/>
            <a:ext cx="18470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6D00B3"/>
                </a:solidFill>
                <a:latin typeface="Segoe UI"/>
              </a:rPr>
              <a:t>Observation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4846320"/>
            <a:ext cx="18470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appended to 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2416" y="3136392"/>
            <a:ext cx="1847088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00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145536"/>
            <a:ext cx="18470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6D00B3"/>
                </a:solidFill>
                <a:latin typeface="Segoe UI"/>
              </a:rPr>
              <a:t>Context grows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3419856"/>
            <a:ext cx="18470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the plan sharpens</a:t>
            </a:r>
          </a:p>
        </p:txBody>
      </p:sp>
      <p:sp>
        <p:nvSpPr>
          <p:cNvPr id="19" name="Oval 18"/>
          <p:cNvSpPr/>
          <p:nvPr/>
        </p:nvSpPr>
        <p:spPr>
          <a:xfrm>
            <a:off x="3511296" y="3035808"/>
            <a:ext cx="1133856" cy="768096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11296" y="3145536"/>
            <a:ext cx="113385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≤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1296" y="3438144"/>
            <a:ext cx="113385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60" b="1">
                <a:solidFill>
                  <a:srgbClr val="E9D2FB"/>
                </a:solidFill>
                <a:latin typeface="Segoe UI"/>
              </a:rPr>
              <a:t>STEPS</a:t>
            </a:r>
          </a:p>
        </p:txBody>
      </p:sp>
      <p:sp>
        <p:nvSpPr>
          <p:cNvPr id="22" name="Right Arrow 21"/>
          <p:cNvSpPr/>
          <p:nvPr/>
        </p:nvSpPr>
        <p:spPr>
          <a:xfrm rot="2700000">
            <a:off x="4855464" y="2482596"/>
            <a:ext cx="566928" cy="155448"/>
          </a:xfrm>
          <a:prstGeom prst="right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 rot="8100000">
            <a:off x="4855464" y="4201668"/>
            <a:ext cx="566928" cy="155448"/>
          </a:xfrm>
          <a:prstGeom prst="right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 rot="13500000">
            <a:off x="2734056" y="4201668"/>
            <a:ext cx="566928" cy="155448"/>
          </a:xfrm>
          <a:prstGeom prst="right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 rot="18900000">
            <a:off x="2734056" y="2482596"/>
            <a:ext cx="566928" cy="155448"/>
          </a:xfrm>
          <a:prstGeom prst="right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34656" y="1517904"/>
            <a:ext cx="41083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spc="120">
                <a:solidFill>
                  <a:srgbClr val="6D00B3"/>
                </a:solidFill>
                <a:latin typeface="Segoe UI"/>
              </a:rPr>
              <a:t>THE THREE TOOLS IT MAY CALL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34656" y="1828800"/>
            <a:ext cx="4108399" cy="768096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34656" y="1828800"/>
            <a:ext cx="45720" cy="768096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54112" y="1938528"/>
            <a:ext cx="366948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6D00B3"/>
                </a:solidFill>
                <a:latin typeface="Consolas"/>
              </a:rPr>
              <a:t>get_schema_context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54112" y="2167128"/>
            <a:ext cx="366948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>
                <a:solidFill>
                  <a:srgbClr val="78788A"/>
                </a:solidFill>
                <a:latin typeface="Segoe UI"/>
              </a:rPr>
              <a:t>→ the graph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54112" y="2359152"/>
            <a:ext cx="366948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45454F"/>
                </a:solidFill>
                <a:latin typeface="Segoe UI"/>
              </a:rPr>
              <a:t>tables · join keys · metrics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34656" y="2688336"/>
            <a:ext cx="4108399" cy="768096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534656" y="2688336"/>
            <a:ext cx="45720" cy="768096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54112" y="2798064"/>
            <a:ext cx="366948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0A6BAF"/>
                </a:solidFill>
                <a:latin typeface="Consolas"/>
              </a:rPr>
              <a:t>sample_values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54112" y="3026664"/>
            <a:ext cx="366948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>
                <a:solidFill>
                  <a:srgbClr val="78788A"/>
                </a:solidFill>
                <a:latin typeface="Segoe UI"/>
              </a:rPr>
              <a:t>→ the database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54112" y="3218688"/>
            <a:ext cx="366948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45454F"/>
                </a:solidFill>
                <a:latin typeface="Segoe UI"/>
              </a:rPr>
              <a:t>real values for a filter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34656" y="3547872"/>
            <a:ext cx="4108399" cy="768096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534656" y="3547872"/>
            <a:ext cx="45720" cy="768096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54112" y="3657600"/>
            <a:ext cx="366948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>
                <a:solidFill>
                  <a:srgbClr val="0A6BAF"/>
                </a:solidFill>
                <a:latin typeface="Consolas"/>
              </a:rPr>
              <a:t>run_sql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54112" y="3886200"/>
            <a:ext cx="366948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>
                <a:solidFill>
                  <a:srgbClr val="78788A"/>
                </a:solidFill>
                <a:latin typeface="Segoe UI"/>
              </a:rPr>
              <a:t>→ the database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54112" y="4078224"/>
            <a:ext cx="366948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45454F"/>
                </a:solidFill>
                <a:latin typeface="Segoe UI"/>
              </a:rPr>
              <a:t>read-only SELECT / WITH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34656" y="4480560"/>
            <a:ext cx="4108399" cy="1042415"/>
          </a:xfrm>
          <a:prstGeom prst="rect">
            <a:avLst/>
          </a:prstGeom>
          <a:solidFill>
            <a:srgbClr val="EFEFF4"/>
          </a:solidFill>
          <a:ln w="17780">
            <a:solidFill>
              <a:srgbClr val="0B7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534656" y="4480560"/>
            <a:ext cx="50292" cy="1042415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90688" y="4645152"/>
            <a:ext cx="3596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spc="120">
                <a:solidFill>
                  <a:srgbClr val="0B7C63"/>
                </a:solidFill>
                <a:latin typeface="Segoe UI"/>
              </a:rPr>
              <a:t>THE EXIT CONDITION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90688" y="4919472"/>
            <a:ext cx="3596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11119"/>
                </a:solidFill>
                <a:latin typeface="Segoe UI"/>
              </a:rPr>
              <a:t>No tool call in the reply → that reply is the answer.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742432"/>
            <a:ext cx="11094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6D00B3"/>
                </a:solidFill>
                <a:latin typeface="Segoe UI"/>
              </a:rPr>
              <a:t>Every turn is recorded. </a:t>
            </a:r>
            <a:r>
              <a:rPr sz="1250" b="0">
                <a:solidFill>
                  <a:srgbClr val="45454F"/>
                </a:solidFill>
                <a:latin typeface="Segoe UI"/>
              </a:rPr>
              <a:t>The reasoning is a trace you can read — not one opaque generation.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A guess becomes a graph traversal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382615" cy="109728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81328"/>
            <a:ext cx="5382615" cy="45720"/>
          </a:xfrm>
          <a:prstGeom prst="rect">
            <a:avLst/>
          </a:prstGeom>
          <a:solidFill>
            <a:srgbClr val="BE2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682496"/>
            <a:ext cx="487055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spc="114">
                <a:solidFill>
                  <a:srgbClr val="BE2F2A"/>
                </a:solidFill>
                <a:latin typeface="Segoe UI"/>
              </a:rPr>
              <a:t>THE MODEL INFERS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1920240"/>
            <a:ext cx="48705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119"/>
                </a:solidFill>
                <a:latin typeface="Segoe UI"/>
              </a:rPr>
              <a:t>Without a 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249424"/>
            <a:ext cx="48705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>
                <a:solidFill>
                  <a:srgbClr val="45454F"/>
                </a:solidFill>
                <a:latin typeface="Segoe UI"/>
              </a:rPr>
              <a:t>customer_id looks like it joins. Sometimes it does.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0439" y="1481328"/>
            <a:ext cx="5382615" cy="109728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0439" y="1481328"/>
            <a:ext cx="5382615" cy="45720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6471" y="1682496"/>
            <a:ext cx="487055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spc="114">
                <a:solidFill>
                  <a:srgbClr val="0B7C63"/>
                </a:solidFill>
                <a:latin typeface="Segoe UI"/>
              </a:rPr>
              <a:t>THE SYSTEM RESOLVES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6471" y="1920240"/>
            <a:ext cx="48705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119"/>
                </a:solidFill>
                <a:latin typeface="Segoe UI"/>
              </a:rPr>
              <a:t>With the graph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6471" y="2249424"/>
            <a:ext cx="48705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>
                <a:solidFill>
                  <a:srgbClr val="45454F"/>
                </a:solidFill>
                <a:latin typeface="Segoe UI"/>
              </a:rPr>
              <a:t>shortestPath returns the real keys. Nothing is invented.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871216"/>
            <a:ext cx="11094415" cy="1700784"/>
          </a:xfrm>
          <a:prstGeom prst="rect">
            <a:avLst/>
          </a:prstGeom>
          <a:solidFill>
            <a:srgbClr val="FAFAFC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054096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spc="114">
                <a:solidFill>
                  <a:srgbClr val="6D00B3"/>
                </a:solidFill>
                <a:latin typeface="Segoe UI"/>
              </a:rPr>
              <a:t>“REVENUE BY CUSTOMER SEGMENT”  ·  TWO SEEDS, THREE HOPS APART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" y="3493008"/>
            <a:ext cx="192024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A6B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3493008"/>
            <a:ext cx="19202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60" b="1">
                <a:solidFill>
                  <a:srgbClr val="0A6BAF"/>
                </a:solidFill>
                <a:latin typeface="Consolas"/>
              </a:rPr>
              <a:t>customers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90472" y="4206240"/>
            <a:ext cx="658368" cy="201168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90472" y="4206240"/>
            <a:ext cx="65836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SEED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829735" y="3735324"/>
            <a:ext cx="256032" cy="137160"/>
          </a:xfrm>
          <a:prstGeom prst="right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34640" y="3218688"/>
            <a:ext cx="224622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Consolas"/>
              </a:rPr>
              <a:t>orders.customer_id = customers.customer_id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35727" y="3493008"/>
            <a:ext cx="1920240" cy="621792"/>
          </a:xfrm>
          <a:prstGeom prst="roundRect">
            <a:avLst/>
          </a:prstGeom>
          <a:solidFill>
            <a:srgbClr val="F6F6F9"/>
          </a:solidFill>
          <a:ln w="19050">
            <a:solidFill>
              <a:srgbClr val="787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35727" y="3493008"/>
            <a:ext cx="19202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60" b="1">
                <a:solidFill>
                  <a:srgbClr val="78788A"/>
                </a:solidFill>
                <a:latin typeface="Consolas"/>
              </a:rPr>
              <a:t>orders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105927" y="3735324"/>
            <a:ext cx="256032" cy="137160"/>
          </a:xfrm>
          <a:prstGeom prst="right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10831" y="3218688"/>
            <a:ext cx="224622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Consolas"/>
              </a:rPr>
              <a:t>order_items.order_id = orders.order_id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1919" y="3493008"/>
            <a:ext cx="192024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A6B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1919" y="3493008"/>
            <a:ext cx="19202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60" b="1">
                <a:solidFill>
                  <a:srgbClr val="0A6BAF"/>
                </a:solidFill>
                <a:latin typeface="Consolas"/>
              </a:rPr>
              <a:t>order_items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2855" y="4206240"/>
            <a:ext cx="658368" cy="201168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2855" y="4206240"/>
            <a:ext cx="65836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SEED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" y="4279392"/>
            <a:ext cx="1047262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45454F"/>
                </a:solidFill>
                <a:latin typeface="Segoe UI"/>
              </a:rPr>
              <a:t>The two join conditions reach the prompt as fact, before any SQL is written.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754880"/>
            <a:ext cx="3551834" cy="969264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754880"/>
            <a:ext cx="45720" cy="969264"/>
          </a:xfrm>
          <a:prstGeom prst="rect">
            <a:avLst/>
          </a:prstGeom>
          <a:solidFill>
            <a:srgbClr val="A65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4919472"/>
            <a:ext cx="309463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11119"/>
                </a:solidFill>
                <a:latin typeface="Segoe UI"/>
              </a:rPr>
              <a:t>Fan-out warning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" y="5212080"/>
            <a:ext cx="309463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>
                <a:solidFill>
                  <a:srgbClr val="45454F"/>
                </a:solidFill>
                <a:latin typeface="Segoe UI"/>
              </a:rPr>
              <a:t>Cardinality on the edge flags double-counting risk.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9930" y="4754880"/>
            <a:ext cx="3551834" cy="969264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9930" y="4754880"/>
            <a:ext cx="45720" cy="969264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57674" y="4919472"/>
            <a:ext cx="309463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11119"/>
                </a:solidFill>
                <a:latin typeface="Segoe UI"/>
              </a:rPr>
              <a:t>Self-joins found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57674" y="5212080"/>
            <a:ext cx="309463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>
                <a:solidFill>
                  <a:srgbClr val="45454F"/>
                </a:solidFill>
                <a:latin typeface="Segoe UI"/>
              </a:rPr>
              <a:t>manager_id → employee_id would otherwise be missed.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1220" y="4754880"/>
            <a:ext cx="3551834" cy="969264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91220" y="4754880"/>
            <a:ext cx="45720" cy="969264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28964" y="4919472"/>
            <a:ext cx="309463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11119"/>
                </a:solidFill>
                <a:latin typeface="Segoe UI"/>
              </a:rPr>
              <a:t>Honest refusal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8964" y="5212080"/>
            <a:ext cx="309463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>
                <a:solidFill>
                  <a:srgbClr val="45454F"/>
                </a:solidFill>
                <a:latin typeface="Segoe UI"/>
              </a:rPr>
              <a:t>No path between domains → say so, never fabricate one.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Six layers, one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1335024" cy="621792"/>
          </a:xfrm>
          <a:prstGeom prst="rect">
            <a:avLst/>
          </a:prstGeom>
          <a:solidFill>
            <a:srgbClr val="EFEFF4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26464"/>
            <a:ext cx="45720" cy="62179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26464"/>
            <a:ext cx="104241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L6</a:t>
            </a:r>
            <a:r>
              <a:rPr sz="1019" b="1">
                <a:solidFill>
                  <a:srgbClr val="A100FF"/>
                </a:solidFill>
                <a:latin typeface="Segoe UI"/>
              </a:rPr>
              <a:t>  Interface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48256" y="1426464"/>
            <a:ext cx="3112922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48256" y="1426464"/>
            <a:ext cx="3112922" cy="36576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12848" y="1572768"/>
            <a:ext cx="280202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Segoe UI"/>
              </a:rPr>
              <a:t>Browser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01368"/>
            <a:ext cx="280202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vanilla JS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89194" y="1426464"/>
            <a:ext cx="3112922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89194" y="1426464"/>
            <a:ext cx="3112922" cy="36576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53786" y="1572768"/>
            <a:ext cx="280202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Segoe UI"/>
              </a:rPr>
              <a:t>Live trace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53786" y="1801368"/>
            <a:ext cx="280202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step by step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30132" y="1426464"/>
            <a:ext cx="3112922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30132" y="1426464"/>
            <a:ext cx="3112922" cy="36576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4724" y="1572768"/>
            <a:ext cx="280202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Segoe UI"/>
              </a:rPr>
              <a:t>Quality panel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94724" y="1801368"/>
            <a:ext cx="280202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dataset profile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2414016" y="2055571"/>
            <a:ext cx="109728" cy="105156"/>
          </a:xfrm>
          <a:prstGeom prst="downArrow">
            <a:avLst/>
          </a:prstGeom>
          <a:solidFill>
            <a:srgbClr val="C6C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171700"/>
            <a:ext cx="1335024" cy="621792"/>
          </a:xfrm>
          <a:prstGeom prst="rect">
            <a:avLst/>
          </a:prstGeom>
          <a:solidFill>
            <a:srgbClr val="EFEFF4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171700"/>
            <a:ext cx="45720" cy="62179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2171700"/>
            <a:ext cx="104241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L5</a:t>
            </a:r>
            <a:r>
              <a:rPr sz="1019" b="1">
                <a:solidFill>
                  <a:srgbClr val="A100FF"/>
                </a:solidFill>
                <a:latin typeface="Segoe UI"/>
              </a:rPr>
              <a:t>  API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48256" y="2171700"/>
            <a:ext cx="2302687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048256" y="2171700"/>
            <a:ext cx="2302687" cy="36576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12848" y="2318004"/>
            <a:ext cx="19917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Consolas"/>
              </a:rPr>
              <a:t>/api/query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12848" y="2546604"/>
            <a:ext cx="199179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ask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78959" y="2171700"/>
            <a:ext cx="2302687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78959" y="2171700"/>
            <a:ext cx="2302687" cy="36576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3551" y="2318004"/>
            <a:ext cx="19917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Consolas"/>
              </a:rPr>
              <a:t>/api/health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43551" y="2546604"/>
            <a:ext cx="199179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status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09663" y="2171700"/>
            <a:ext cx="2302687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09663" y="2171700"/>
            <a:ext cx="2302687" cy="36576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74255" y="2318004"/>
            <a:ext cx="19917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Consolas"/>
              </a:rPr>
              <a:t>/api/domains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74255" y="2546604"/>
            <a:ext cx="199179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catalogue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40367" y="2171700"/>
            <a:ext cx="2302687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40367" y="2171700"/>
            <a:ext cx="2302687" cy="36576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04959" y="2318004"/>
            <a:ext cx="19917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Consolas"/>
              </a:rPr>
              <a:t>/api/quality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04959" y="2546604"/>
            <a:ext cx="199179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profile</a:t>
            </a:r>
          </a:p>
        </p:txBody>
      </p:sp>
      <p:sp>
        <p:nvSpPr>
          <p:cNvPr id="42" name="Down Arrow 41"/>
          <p:cNvSpPr/>
          <p:nvPr/>
        </p:nvSpPr>
        <p:spPr>
          <a:xfrm>
            <a:off x="2414016" y="2800807"/>
            <a:ext cx="109728" cy="105156"/>
          </a:xfrm>
          <a:prstGeom prst="downArrow">
            <a:avLst/>
          </a:prstGeom>
          <a:solidFill>
            <a:srgbClr val="C6C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2916936"/>
            <a:ext cx="1335024" cy="621792"/>
          </a:xfrm>
          <a:prstGeom prst="rect">
            <a:avLst/>
          </a:prstGeom>
          <a:solidFill>
            <a:srgbClr val="EFEFF4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2916936"/>
            <a:ext cx="45720" cy="62179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3232" y="2916936"/>
            <a:ext cx="104241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L4</a:t>
            </a:r>
            <a:r>
              <a:rPr sz="1019" b="1">
                <a:solidFill>
                  <a:srgbClr val="A100FF"/>
                </a:solidFill>
                <a:latin typeface="Segoe UI"/>
              </a:rPr>
              <a:t>  Reasoning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48256" y="2916936"/>
            <a:ext cx="3112922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048256" y="2916936"/>
            <a:ext cx="3112922" cy="36576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12848" y="3063240"/>
            <a:ext cx="280202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Segoe UI"/>
              </a:rPr>
              <a:t>ReAct loop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3291840"/>
            <a:ext cx="280202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≤ 6 steps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9194" y="2916936"/>
            <a:ext cx="3112922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289194" y="2916936"/>
            <a:ext cx="3112922" cy="36576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53786" y="3063240"/>
            <a:ext cx="280202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Consolas"/>
              </a:rPr>
              <a:t>LLaMA-3.3-70B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53786" y="3291840"/>
            <a:ext cx="280202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on Groq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30132" y="2916936"/>
            <a:ext cx="3112922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530132" y="2916936"/>
            <a:ext cx="3112922" cy="36576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94724" y="3063240"/>
            <a:ext cx="280202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Segoe UI"/>
              </a:rPr>
              <a:t>Grounding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94724" y="3291840"/>
            <a:ext cx="280202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figures vs rows</a:t>
            </a:r>
          </a:p>
        </p:txBody>
      </p:sp>
      <p:sp>
        <p:nvSpPr>
          <p:cNvPr id="58" name="Down Arrow 57"/>
          <p:cNvSpPr/>
          <p:nvPr/>
        </p:nvSpPr>
        <p:spPr>
          <a:xfrm>
            <a:off x="2414016" y="3546043"/>
            <a:ext cx="109728" cy="105156"/>
          </a:xfrm>
          <a:prstGeom prst="downArrow">
            <a:avLst/>
          </a:prstGeom>
          <a:solidFill>
            <a:srgbClr val="C6C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48640" y="3662172"/>
            <a:ext cx="1335024" cy="621792"/>
          </a:xfrm>
          <a:prstGeom prst="rect">
            <a:avLst/>
          </a:prstGeom>
          <a:solidFill>
            <a:srgbClr val="EFEFF4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48640" y="3662172"/>
            <a:ext cx="45720" cy="621792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3232" y="3662172"/>
            <a:ext cx="104241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L3</a:t>
            </a:r>
            <a:r>
              <a:rPr sz="1019" b="1">
                <a:solidFill>
                  <a:srgbClr val="6D00B3"/>
                </a:solidFill>
                <a:latin typeface="Segoe UI"/>
              </a:rPr>
              <a:t>  Tools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048256" y="3662172"/>
            <a:ext cx="3112922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048256" y="3662172"/>
            <a:ext cx="3112922" cy="36576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212848" y="3808476"/>
            <a:ext cx="280202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Consolas"/>
              </a:rPr>
              <a:t>get_schema_context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212848" y="4037076"/>
            <a:ext cx="280202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→ graph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9194" y="3662172"/>
            <a:ext cx="3112922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289194" y="3662172"/>
            <a:ext cx="3112922" cy="36576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53786" y="3808476"/>
            <a:ext cx="280202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Consolas"/>
              </a:rPr>
              <a:t>sample_values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53786" y="4037076"/>
            <a:ext cx="280202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→ database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30132" y="3662172"/>
            <a:ext cx="3112922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530132" y="3662172"/>
            <a:ext cx="3112922" cy="36576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694724" y="3808476"/>
            <a:ext cx="280202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Consolas"/>
              </a:rPr>
              <a:t>run_sql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94724" y="4037076"/>
            <a:ext cx="280202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→ database, read-only</a:t>
            </a:r>
          </a:p>
        </p:txBody>
      </p:sp>
      <p:sp>
        <p:nvSpPr>
          <p:cNvPr id="74" name="Down Arrow 73"/>
          <p:cNvSpPr/>
          <p:nvPr/>
        </p:nvSpPr>
        <p:spPr>
          <a:xfrm>
            <a:off x="2414016" y="4291279"/>
            <a:ext cx="109728" cy="105156"/>
          </a:xfrm>
          <a:prstGeom prst="downArrow">
            <a:avLst/>
          </a:prstGeom>
          <a:solidFill>
            <a:srgbClr val="C6C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48640" y="4407408"/>
            <a:ext cx="1335024" cy="621792"/>
          </a:xfrm>
          <a:prstGeom prst="rect">
            <a:avLst/>
          </a:prstGeom>
          <a:solidFill>
            <a:srgbClr val="EFEFF4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48640" y="4407408"/>
            <a:ext cx="45720" cy="621792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3232" y="4407408"/>
            <a:ext cx="104241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L2</a:t>
            </a:r>
            <a:r>
              <a:rPr sz="1019" b="1">
                <a:solidFill>
                  <a:srgbClr val="6D00B3"/>
                </a:solidFill>
                <a:latin typeface="Segoe UI"/>
              </a:rPr>
              <a:t>  Stores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48256" y="4407408"/>
            <a:ext cx="3112922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048256" y="4407408"/>
            <a:ext cx="3112922" cy="36576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212848" y="4553712"/>
            <a:ext cx="280202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Segoe UI"/>
              </a:rPr>
              <a:t>Neo4j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12848" y="4782312"/>
            <a:ext cx="280202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441 nodes · 3 vector indexes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289194" y="4407408"/>
            <a:ext cx="3112922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289194" y="4407408"/>
            <a:ext cx="3112922" cy="36576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53786" y="4553712"/>
            <a:ext cx="280202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Segoe UI"/>
              </a:rPr>
              <a:t>MiniLM 384-d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53786" y="4782312"/>
            <a:ext cx="280202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local embeddings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30132" y="4407408"/>
            <a:ext cx="3112922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530132" y="4407408"/>
            <a:ext cx="3112922" cy="36576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694724" y="4553712"/>
            <a:ext cx="280202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Segoe UI"/>
              </a:rPr>
              <a:t>SQLite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94724" y="4782312"/>
            <a:ext cx="280202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23,293 rows</a:t>
            </a:r>
          </a:p>
        </p:txBody>
      </p:sp>
      <p:sp>
        <p:nvSpPr>
          <p:cNvPr id="90" name="Down Arrow 89"/>
          <p:cNvSpPr/>
          <p:nvPr/>
        </p:nvSpPr>
        <p:spPr>
          <a:xfrm>
            <a:off x="2414016" y="5036515"/>
            <a:ext cx="109728" cy="105156"/>
          </a:xfrm>
          <a:prstGeom prst="downArrow">
            <a:avLst/>
          </a:prstGeom>
          <a:solidFill>
            <a:srgbClr val="C6C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48640" y="5152644"/>
            <a:ext cx="1335024" cy="621792"/>
          </a:xfrm>
          <a:prstGeom prst="rect">
            <a:avLst/>
          </a:prstGeom>
          <a:solidFill>
            <a:srgbClr val="EFEFF4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48640" y="5152644"/>
            <a:ext cx="45720" cy="621792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3232" y="5152644"/>
            <a:ext cx="104241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78788A"/>
                </a:solidFill>
                <a:latin typeface="Segoe UI"/>
              </a:rPr>
              <a:t>L1</a:t>
            </a:r>
            <a:r>
              <a:rPr sz="1019" b="1">
                <a:solidFill>
                  <a:srgbClr val="0A6BAF"/>
                </a:solidFill>
                <a:latin typeface="Segoe UI"/>
              </a:rPr>
              <a:t>  Catalogue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048256" y="5152644"/>
            <a:ext cx="2302687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048256" y="5152644"/>
            <a:ext cx="2302687" cy="36576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212848" y="5298948"/>
            <a:ext cx="19917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Consolas"/>
              </a:rPr>
              <a:t>schema.json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212848" y="5527548"/>
            <a:ext cx="199179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the contract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478959" y="5152644"/>
            <a:ext cx="2302687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478959" y="5152644"/>
            <a:ext cx="2302687" cy="36576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643551" y="5298948"/>
            <a:ext cx="19917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Segoe UI"/>
              </a:rPr>
              <a:t>datagen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643551" y="5527548"/>
            <a:ext cx="199179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seeded CSVs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909663" y="5152644"/>
            <a:ext cx="2302687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909663" y="5152644"/>
            <a:ext cx="2302687" cy="36576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074255" y="5298948"/>
            <a:ext cx="19917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Segoe UI"/>
              </a:rPr>
              <a:t>quality gate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074255" y="5527548"/>
            <a:ext cx="199179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integrity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340367" y="5152644"/>
            <a:ext cx="2302687" cy="621792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340367" y="5152644"/>
            <a:ext cx="2302687" cy="36576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504959" y="5298948"/>
            <a:ext cx="19917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11119"/>
                </a:solidFill>
                <a:latin typeface="Segoe UI"/>
              </a:rPr>
              <a:t>loader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504959" y="5527548"/>
            <a:ext cx="199179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8788A"/>
                </a:solidFill>
                <a:latin typeface="Segoe UI"/>
              </a:rPr>
              <a:t>→ both stores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048256" y="5916168"/>
            <a:ext cx="9594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45454F"/>
                </a:solidFill>
                <a:latin typeface="Segoe UI"/>
              </a:rPr>
              <a:t>Request flows down, answer returns up. </a:t>
            </a:r>
            <a:r>
              <a:rPr sz="940" b="1">
                <a:solidFill>
                  <a:srgbClr val="6D00B3"/>
                </a:solidFill>
                <a:latin typeface="Segoe UI"/>
              </a:rPr>
              <a:t>One FastAPI process serves every layer above the stores.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A007A"/>
              </a:gs>
              <a:gs pos="100000">
                <a:srgbClr val="A100FF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050" b="0">
                <a:solidFill>
                  <a:srgbClr val="45454F"/>
                </a:solidFill>
                <a:latin typeface="Segoe U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95728"/>
            <a:ext cx="2743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1000" b="1">
                <a:solidFill>
                  <a:srgbClr val="C98AF5"/>
                </a:solidFill>
                <a:latin typeface="Segoe UI Light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2615184"/>
            <a:ext cx="18288" cy="1005840"/>
          </a:xfrm>
          <a:prstGeom prst="rect">
            <a:avLst/>
          </a:prstGeom>
          <a:solidFill>
            <a:srgbClr val="C98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80944" y="267004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E4C6FC"/>
                </a:solidFill>
                <a:latin typeface="Segoe UI"/>
              </a:rPr>
              <a:t>SECTION THREE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80944" y="2926080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The Proof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0944" y="358444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DDBCF8"/>
                </a:solidFill>
                <a:latin typeface="Segoe UI"/>
              </a:rPr>
              <a:t>Measured on this repository — not estimated.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RESULT 01  · 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The graph makes the model's job smaller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37490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</a:pPr>
            <a:r>
              <a:rPr sz="6200" b="1">
                <a:solidFill>
                  <a:srgbClr val="6D00B3"/>
                </a:solidFill>
                <a:latin typeface="Segoe UI Light"/>
              </a:rPr>
              <a:t>83.8%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59152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spc="120">
                <a:solidFill>
                  <a:srgbClr val="78788A"/>
                </a:solidFill>
                <a:latin typeface="Segoe UI"/>
              </a:rPr>
              <a:t>OF PROMPT CONTEXT REMOVED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19" y="2724912"/>
            <a:ext cx="2468880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44368"/>
            <a:ext cx="374903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>
                <a:solidFill>
                  <a:srgbClr val="111119"/>
                </a:solidFill>
                <a:latin typeface="Segoe UI"/>
              </a:rPr>
              <a:t>6.2× smaller payload</a:t>
            </a:r>
          </a:p>
          <a:p>
            <a:pPr algn="ctr">
              <a:lnSpc>
                <a:spcPct val="130000"/>
              </a:lnSpc>
            </a:pPr>
            <a:r>
              <a:rPr sz="1040" b="0">
                <a:solidFill>
                  <a:srgbClr val="78788A"/>
                </a:solidFill>
                <a:latin typeface="Segoe UI"/>
              </a:rPr>
              <a:t>on every one of up to 6 model calls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645920"/>
            <a:ext cx="505937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>
                <a:solidFill>
                  <a:srgbClr val="111119"/>
                </a:solidFill>
                <a:latin typeface="Segoe UI"/>
              </a:rPr>
              <a:t>Whole catalogue in the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883664"/>
            <a:ext cx="505937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8788A"/>
                </a:solidFill>
                <a:latin typeface="Segoe UI"/>
              </a:rPr>
              <a:t>50 tables · 373 columns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2139696"/>
            <a:ext cx="5059375" cy="310896"/>
          </a:xfrm>
          <a:prstGeom prst="rect">
            <a:avLst/>
          </a:prstGeom>
          <a:solidFill>
            <a:srgbClr val="EF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2139696"/>
            <a:ext cx="5059375" cy="310896"/>
          </a:xfrm>
          <a:prstGeom prst="rect">
            <a:avLst/>
          </a:prstGeom>
          <a:solidFill>
            <a:srgbClr val="BE2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70287" y="212140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11119"/>
                </a:solidFill>
                <a:latin typeface="Segoe UI"/>
              </a:rPr>
              <a:t>10,224</a:t>
            </a:r>
            <a:r>
              <a:rPr sz="900" b="0">
                <a:solidFill>
                  <a:srgbClr val="78788A"/>
                </a:solidFill>
                <a:latin typeface="Segoe UI"/>
              </a:rPr>
              <a:t> 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743200"/>
            <a:ext cx="505937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>
                <a:solidFill>
                  <a:srgbClr val="111119"/>
                </a:solidFill>
                <a:latin typeface="Segoe UI"/>
              </a:rPr>
              <a:t>Graph-retrieved slice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980944"/>
            <a:ext cx="505937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8788A"/>
                </a:solidFill>
                <a:latin typeface="Segoe UI"/>
              </a:rPr>
              <a:t>8 tables · ~59 columns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3236976"/>
            <a:ext cx="5059375" cy="310896"/>
          </a:xfrm>
          <a:prstGeom prst="rect">
            <a:avLst/>
          </a:prstGeom>
          <a:solidFill>
            <a:srgbClr val="EF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3236976"/>
            <a:ext cx="818981" cy="310896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70287" y="32186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11119"/>
                </a:solidFill>
                <a:latin typeface="Segoe UI"/>
              </a:rPr>
              <a:t>1,655</a:t>
            </a:r>
            <a:r>
              <a:rPr sz="900" b="0">
                <a:solidFill>
                  <a:srgbClr val="78788A"/>
                </a:solidFill>
                <a:latin typeface="Segoe UI"/>
              </a:rPr>
              <a:t> tok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3877056"/>
            <a:ext cx="679673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>
                <a:solidFill>
                  <a:srgbClr val="78788A"/>
                </a:solidFill>
                <a:latin typeface="Segoe UI"/>
              </a:rPr>
              <a:t>token estimate = characters ÷ 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443984"/>
            <a:ext cx="2609011" cy="1024128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443984"/>
            <a:ext cx="2609011" cy="457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" y="4663440"/>
            <a:ext cx="215181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100FF"/>
                </a:solidFill>
                <a:latin typeface="Segoe UI"/>
              </a:rPr>
              <a:t>Sharper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992624"/>
            <a:ext cx="21518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45454F"/>
                </a:solidFill>
                <a:latin typeface="Segoe UI"/>
              </a:rPr>
              <a:t>fewer ways to be plausibly wrong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77107" y="4443984"/>
            <a:ext cx="2609011" cy="1024128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77107" y="4443984"/>
            <a:ext cx="2609011" cy="45720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4851" y="4663440"/>
            <a:ext cx="215181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6BAF"/>
                </a:solidFill>
                <a:latin typeface="Segoe UI"/>
              </a:rPr>
              <a:t>Faster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4851" y="4992624"/>
            <a:ext cx="21518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45454F"/>
                </a:solidFill>
                <a:latin typeface="Segoe UI"/>
              </a:rPr>
              <a:t>a smaller prompt is a faster answer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5575" y="4443984"/>
            <a:ext cx="2609011" cy="1024128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05575" y="4443984"/>
            <a:ext cx="2609011" cy="45720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3319" y="4663440"/>
            <a:ext cx="215181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B7C63"/>
                </a:solidFill>
                <a:latin typeface="Segoe UI"/>
              </a:rPr>
              <a:t>Cheaper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3319" y="4992624"/>
            <a:ext cx="21518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45454F"/>
                </a:solidFill>
                <a:latin typeface="Segoe UI"/>
              </a:rPr>
              <a:t>token spend falls with the payload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34043" y="4443984"/>
            <a:ext cx="2609011" cy="1024128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34043" y="4443984"/>
            <a:ext cx="2609011" cy="45720"/>
          </a:xfrm>
          <a:prstGeom prst="rect">
            <a:avLst/>
          </a:prstGeom>
          <a:solidFill>
            <a:srgbClr val="A65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71787" y="4663440"/>
            <a:ext cx="215181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5E0A"/>
                </a:solidFill>
                <a:latin typeface="Segoe UI"/>
              </a:rPr>
              <a:t>Scalable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71787" y="4992624"/>
            <a:ext cx="21518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45454F"/>
                </a:solidFill>
                <a:latin typeface="Segoe UI"/>
              </a:rPr>
              <a:t>flat at 50 tables or 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RESULT 02  · 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Four guards, none of which trusts the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11094415" cy="749808"/>
          </a:xfrm>
          <a:prstGeom prst="rect">
            <a:avLst/>
          </a:prstGeom>
          <a:solidFill>
            <a:srgbClr val="8A2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81328"/>
            <a:ext cx="54864" cy="7498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609344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Segoe UI"/>
              </a:rPr>
              <a:t>The 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90195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>
                <a:solidFill>
                  <a:srgbClr val="FFFFFF"/>
                </a:solidFill>
                <a:latin typeface="Segoe UI"/>
              </a:rPr>
              <a:t>every tool call, every correction, returned with the answer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65231" y="1700784"/>
            <a:ext cx="566928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65231" y="1700784"/>
            <a:ext cx="5669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A100FF"/>
                </a:solidFill>
                <a:latin typeface="Segoe UI"/>
              </a:rPr>
              <a:t>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377440"/>
            <a:ext cx="10362895" cy="749808"/>
          </a:xfrm>
          <a:prstGeom prst="rect">
            <a:avLst/>
          </a:prstGeom>
          <a:solidFill>
            <a:srgbClr val="B06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377440"/>
            <a:ext cx="54864" cy="749808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25296" y="250545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Segoe UI"/>
              </a:rPr>
              <a:t>The grounding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2798064"/>
            <a:ext cx="972281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>
                <a:solidFill>
                  <a:srgbClr val="FFFFFF"/>
                </a:solidFill>
                <a:latin typeface="Segoe UI"/>
              </a:rPr>
              <a:t>stated figures matched against the returned rows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99471" y="2596896"/>
            <a:ext cx="566928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99471" y="2596896"/>
            <a:ext cx="5669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B7C63"/>
                </a:solidFill>
                <a:latin typeface="Segoe UI"/>
              </a:rPr>
              <a:t>02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3273552"/>
            <a:ext cx="9631375" cy="749808"/>
          </a:xfrm>
          <a:prstGeom prst="rect">
            <a:avLst/>
          </a:prstGeom>
          <a:solidFill>
            <a:srgbClr val="D5B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80160" y="3273552"/>
            <a:ext cx="54864" cy="749808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91056" y="3401568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11119"/>
                </a:solidFill>
                <a:latin typeface="Segoe UI"/>
              </a:rPr>
              <a:t>Honest success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91056" y="3694176"/>
            <a:ext cx="89912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>
                <a:solidFill>
                  <a:srgbClr val="45454F"/>
                </a:solidFill>
                <a:latin typeface="Segoe UI"/>
              </a:rPr>
              <a:t>true only when a conclusive answer actually ran SQL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33711" y="3493008"/>
            <a:ext cx="566928" cy="310896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33711" y="3493008"/>
            <a:ext cx="5669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0" y="4169664"/>
            <a:ext cx="8899855" cy="749808"/>
          </a:xfrm>
          <a:prstGeom prst="rect">
            <a:avLst/>
          </a:prstGeom>
          <a:solidFill>
            <a:srgbClr val="EED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645920" y="4169664"/>
            <a:ext cx="54864" cy="749808"/>
          </a:xfrm>
          <a:prstGeom prst="rect">
            <a:avLst/>
          </a:prstGeom>
          <a:solidFill>
            <a:srgbClr val="A65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56816" y="429768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11119"/>
                </a:solidFill>
                <a:latin typeface="Segoe UI"/>
              </a:rPr>
              <a:t>Graceful failure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56816" y="4590288"/>
            <a:ext cx="825977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>
                <a:solidFill>
                  <a:srgbClr val="45454F"/>
                </a:solidFill>
                <a:latin typeface="Segoe UI"/>
              </a:rPr>
              <a:t>a classified message, never a stack trace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67951" y="4389120"/>
            <a:ext cx="566928" cy="310896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67951" y="4389120"/>
            <a:ext cx="5669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120640"/>
            <a:ext cx="11094415" cy="859536"/>
          </a:xfrm>
          <a:prstGeom prst="rect">
            <a:avLst/>
          </a:prstGeom>
          <a:solidFill>
            <a:srgbClr val="F6F6F9"/>
          </a:solidFill>
          <a:ln w="1778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5120640"/>
            <a:ext cx="50292" cy="859536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7" y="5266944"/>
            <a:ext cx="104360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11119"/>
                </a:solidFill>
                <a:latin typeface="Segoe UI"/>
              </a:rPr>
              <a:t>Grounding advises, it never blocks.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7" y="5596128"/>
            <a:ext cx="1043604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0">
                <a:solidFill>
                  <a:srgbClr val="78788A"/>
                </a:solidFill>
                <a:latin typeface="Segoe UI"/>
              </a:rPr>
              <a:t>Derived figures like “4.06 orders per customer” appear in no single cell — so a hard gate would reject correct answers.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RESULT 03  · 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One question, and everything it left behind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11094415" cy="640080"/>
          </a:xfrm>
          <a:prstGeom prst="rect">
            <a:avLst/>
          </a:prstGeom>
          <a:solidFill>
            <a:srgbClr val="EFEFF4"/>
          </a:solidFill>
          <a:ln w="1778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81328"/>
            <a:ext cx="50292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591056"/>
            <a:ext cx="1005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spc="120">
                <a:solidFill>
                  <a:srgbClr val="6D00B3"/>
                </a:solidFill>
                <a:latin typeface="Segoe UI"/>
              </a:rPr>
              <a:t>ASKED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5376" y="1609344"/>
            <a:ext cx="94484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11119"/>
                </a:solidFill>
                <a:latin typeface="Segoe UI"/>
              </a:rPr>
              <a:t>“What was total revenue by region last quarter?”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32304"/>
            <a:ext cx="2011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D00B3"/>
                </a:solidFill>
                <a:latin typeface="Consolas"/>
              </a:rPr>
              <a:t>get_schema_context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33472"/>
            <a:ext cx="20482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40" b="0">
                <a:solidFill>
                  <a:srgbClr val="78788A"/>
                </a:solidFill>
                <a:latin typeface="Segoe UI"/>
              </a:rPr>
              <a:t>the graph returns 4 tables, 3 join keys, 1 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06624" y="2432304"/>
            <a:ext cx="7016191" cy="274320"/>
          </a:xfrm>
          <a:prstGeom prst="rect">
            <a:avLst/>
          </a:prstGeom>
          <a:solidFill>
            <a:srgbClr val="F6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06624" y="2432304"/>
            <a:ext cx="2123321" cy="2743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69119" y="243230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11119"/>
                </a:solidFill>
                <a:latin typeface="Segoe UI"/>
              </a:rPr>
              <a:t>2.3</a:t>
            </a:r>
            <a:r>
              <a:rPr sz="860" b="0">
                <a:solidFill>
                  <a:srgbClr val="78788A"/>
                </a:solidFill>
                <a:latin typeface="Segoe UI"/>
              </a:rPr>
              <a:t>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18688"/>
            <a:ext cx="2011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A6BAF"/>
                </a:solidFill>
                <a:latin typeface="Consolas"/>
              </a:rPr>
              <a:t>sample_values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19856"/>
            <a:ext cx="20482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40" b="0">
                <a:solidFill>
                  <a:srgbClr val="78788A"/>
                </a:solidFill>
                <a:latin typeface="Segoe UI"/>
              </a:rPr>
              <a:t>6 real region names, so the filter is not guessed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06624" y="3218688"/>
            <a:ext cx="7016191" cy="274320"/>
          </a:xfrm>
          <a:prstGeom prst="rect">
            <a:avLst/>
          </a:prstGeom>
          <a:solidFill>
            <a:srgbClr val="F6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29945" y="3218688"/>
            <a:ext cx="1015501" cy="274320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69119" y="321868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11119"/>
                </a:solidFill>
                <a:latin typeface="Segoe UI"/>
              </a:rPr>
              <a:t>1.1</a:t>
            </a:r>
            <a:r>
              <a:rPr sz="860" b="0">
                <a:solidFill>
                  <a:srgbClr val="78788A"/>
                </a:solidFill>
                <a:latin typeface="Segoe UI"/>
              </a:rPr>
              <a:t>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2011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A6BAF"/>
                </a:solidFill>
                <a:latin typeface="Consolas"/>
              </a:rPr>
              <a:t>run_sql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206240"/>
            <a:ext cx="20482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40" b="0">
                <a:solidFill>
                  <a:srgbClr val="78788A"/>
                </a:solidFill>
                <a:latin typeface="Segoe UI"/>
              </a:rPr>
              <a:t>the SELECT executes read-only and returns 6 rows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06624" y="4005072"/>
            <a:ext cx="7016191" cy="274320"/>
          </a:xfrm>
          <a:prstGeom prst="rect">
            <a:avLst/>
          </a:prstGeom>
          <a:solidFill>
            <a:srgbClr val="F6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45446" y="4005072"/>
            <a:ext cx="2861867" cy="274320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69119" y="400507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11119"/>
                </a:solidFill>
                <a:latin typeface="Segoe UI"/>
              </a:rPr>
              <a:t>3.1</a:t>
            </a:r>
            <a:r>
              <a:rPr sz="860" b="0">
                <a:solidFill>
                  <a:srgbClr val="78788A"/>
                </a:solidFill>
                <a:latin typeface="Segoe UI"/>
              </a:rPr>
              <a:t>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91455"/>
            <a:ext cx="2011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7C63"/>
                </a:solidFill>
                <a:latin typeface="Consolas"/>
              </a:rPr>
              <a:t>grounding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992624"/>
            <a:ext cx="20482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40" b="0">
                <a:solidFill>
                  <a:srgbClr val="78788A"/>
                </a:solidFill>
                <a:latin typeface="Segoe UI"/>
              </a:rPr>
              <a:t>every stated figure found in those rows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06624" y="4791455"/>
            <a:ext cx="7016191" cy="274320"/>
          </a:xfrm>
          <a:prstGeom prst="rect">
            <a:avLst/>
          </a:prstGeom>
          <a:solidFill>
            <a:srgbClr val="F6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07313" y="4791455"/>
            <a:ext cx="1015501" cy="274320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69119" y="4791455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11119"/>
                </a:solidFill>
                <a:latin typeface="Segoe UI"/>
              </a:rPr>
              <a:t>1.1</a:t>
            </a:r>
            <a:r>
              <a:rPr sz="860" b="0">
                <a:solidFill>
                  <a:srgbClr val="78788A"/>
                </a:solidFill>
                <a:latin typeface="Segoe UI"/>
              </a:rPr>
              <a:t> 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06624" y="5541264"/>
            <a:ext cx="7016191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06624" y="5614416"/>
            <a:ext cx="701619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788A"/>
                </a:solidFill>
                <a:latin typeface="Consolas"/>
              </a:rPr>
              <a:t>elapsed  →   0 s                                                                       7.6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45454F"/>
                </a:solidFill>
                <a:latin typeface="Segoe UI"/>
              </a:rPr>
              <a:t>Answer, SQL, rows, trace and a grounded badge — </a:t>
            </a:r>
            <a:r>
              <a:rPr sz="1250" b="1">
                <a:solidFill>
                  <a:srgbClr val="6D00B3"/>
                </a:solidFill>
                <a:latin typeface="Segoe UI"/>
              </a:rPr>
              <a:t>all four returned together, every time.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THE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Every tool, and the job it does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3539642" cy="2048256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81328"/>
            <a:ext cx="3539642" cy="457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700784"/>
            <a:ext cx="302757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6D00B3"/>
                </a:solidFill>
                <a:latin typeface="Segoe UI"/>
              </a:rPr>
              <a:t>Graph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" y="2066544"/>
            <a:ext cx="3027578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2295144"/>
            <a:ext cx="109728" cy="109728"/>
          </a:xfrm>
          <a:prstGeom prst="ellipse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231136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Neo4j AuraDB</a:t>
            </a:r>
          </a:p>
        </p:txBody>
      </p:sp>
      <p:sp>
        <p:nvSpPr>
          <p:cNvPr id="13" name="Oval 12"/>
          <p:cNvSpPr/>
          <p:nvPr/>
        </p:nvSpPr>
        <p:spPr>
          <a:xfrm>
            <a:off x="804672" y="2606039"/>
            <a:ext cx="109728" cy="109728"/>
          </a:xfrm>
          <a:prstGeom prst="ellipse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542032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neo4j driver 6.0.2</a:t>
            </a:r>
          </a:p>
        </p:txBody>
      </p:sp>
      <p:sp>
        <p:nvSpPr>
          <p:cNvPr id="15" name="Oval 14"/>
          <p:cNvSpPr/>
          <p:nvPr/>
        </p:nvSpPr>
        <p:spPr>
          <a:xfrm>
            <a:off x="804672" y="2916936"/>
            <a:ext cx="109728" cy="109728"/>
          </a:xfrm>
          <a:prstGeom prst="ellipse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2852928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Cypher</a:t>
            </a:r>
          </a:p>
        </p:txBody>
      </p:sp>
      <p:sp>
        <p:nvSpPr>
          <p:cNvPr id="17" name="Oval 16"/>
          <p:cNvSpPr/>
          <p:nvPr/>
        </p:nvSpPr>
        <p:spPr>
          <a:xfrm>
            <a:off x="804672" y="3227832"/>
            <a:ext cx="109728" cy="109728"/>
          </a:xfrm>
          <a:prstGeom prst="ellipse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163824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native vector indexes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6026" y="1481328"/>
            <a:ext cx="3539642" cy="2048256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26026" y="1481328"/>
            <a:ext cx="3539642" cy="457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82058" y="1700784"/>
            <a:ext cx="302757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6D00B3"/>
                </a:solidFill>
                <a:latin typeface="Segoe UI"/>
              </a:rPr>
              <a:t>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82058" y="2066544"/>
            <a:ext cx="3027578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82058" y="2295144"/>
            <a:ext cx="109728" cy="109728"/>
          </a:xfrm>
          <a:prstGeom prst="ellipse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1514" y="2231136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Groq API</a:t>
            </a:r>
          </a:p>
        </p:txBody>
      </p:sp>
      <p:sp>
        <p:nvSpPr>
          <p:cNvPr id="25" name="Oval 24"/>
          <p:cNvSpPr/>
          <p:nvPr/>
        </p:nvSpPr>
        <p:spPr>
          <a:xfrm>
            <a:off x="4582058" y="2606039"/>
            <a:ext cx="109728" cy="109728"/>
          </a:xfrm>
          <a:prstGeom prst="ellipse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1514" y="2542032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LLaMA-3.3-70B</a:t>
            </a:r>
          </a:p>
        </p:txBody>
      </p:sp>
      <p:sp>
        <p:nvSpPr>
          <p:cNvPr id="27" name="Oval 26"/>
          <p:cNvSpPr/>
          <p:nvPr/>
        </p:nvSpPr>
        <p:spPr>
          <a:xfrm>
            <a:off x="4582058" y="2916936"/>
            <a:ext cx="109728" cy="109728"/>
          </a:xfrm>
          <a:prstGeom prst="ellipse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1514" y="2852928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groq SDK 1.5.0</a:t>
            </a:r>
          </a:p>
        </p:txBody>
      </p:sp>
      <p:sp>
        <p:nvSpPr>
          <p:cNvPr id="29" name="Oval 28"/>
          <p:cNvSpPr/>
          <p:nvPr/>
        </p:nvSpPr>
        <p:spPr>
          <a:xfrm>
            <a:off x="4582058" y="3227832"/>
            <a:ext cx="109728" cy="109728"/>
          </a:xfrm>
          <a:prstGeom prst="ellipse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1514" y="3163824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ReAct loop (ours)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03412" y="1481328"/>
            <a:ext cx="3539642" cy="2048256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3412" y="1481328"/>
            <a:ext cx="3539642" cy="45720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59444" y="1700784"/>
            <a:ext cx="302757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A6BAF"/>
                </a:solidFill>
                <a:latin typeface="Segoe UI"/>
              </a:rPr>
              <a:t>Retrieval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9444" y="2066544"/>
            <a:ext cx="3027578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59444" y="2295144"/>
            <a:ext cx="109728" cy="109728"/>
          </a:xfrm>
          <a:prstGeom prst="ellipse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78900" y="2231136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sentence-transformers</a:t>
            </a:r>
          </a:p>
        </p:txBody>
      </p:sp>
      <p:sp>
        <p:nvSpPr>
          <p:cNvPr id="37" name="Oval 36"/>
          <p:cNvSpPr/>
          <p:nvPr/>
        </p:nvSpPr>
        <p:spPr>
          <a:xfrm>
            <a:off x="8359444" y="2606039"/>
            <a:ext cx="109728" cy="109728"/>
          </a:xfrm>
          <a:prstGeom prst="ellipse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78900" y="2542032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all-MiniLM-L6-v2</a:t>
            </a:r>
          </a:p>
        </p:txBody>
      </p:sp>
      <p:sp>
        <p:nvSpPr>
          <p:cNvPr id="39" name="Oval 38"/>
          <p:cNvSpPr/>
          <p:nvPr/>
        </p:nvSpPr>
        <p:spPr>
          <a:xfrm>
            <a:off x="8359444" y="2916936"/>
            <a:ext cx="109728" cy="109728"/>
          </a:xfrm>
          <a:prstGeom prst="ellipse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78900" y="2852928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384-d cosine</a:t>
            </a:r>
          </a:p>
        </p:txBody>
      </p:sp>
      <p:sp>
        <p:nvSpPr>
          <p:cNvPr id="41" name="Oval 40"/>
          <p:cNvSpPr/>
          <p:nvPr/>
        </p:nvSpPr>
        <p:spPr>
          <a:xfrm>
            <a:off x="8359444" y="3227832"/>
            <a:ext cx="109728" cy="109728"/>
          </a:xfrm>
          <a:prstGeom prst="ellipse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78900" y="3163824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shortestPath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3767328"/>
            <a:ext cx="3539642" cy="2048256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3767328"/>
            <a:ext cx="3539642" cy="457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3986784"/>
            <a:ext cx="302757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6D00B3"/>
                </a:solidFill>
                <a:latin typeface="Segoe UI"/>
              </a:rPr>
              <a:t>Backend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4672" y="4352544"/>
            <a:ext cx="3027578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04672" y="4581144"/>
            <a:ext cx="109728" cy="109728"/>
          </a:xfrm>
          <a:prstGeom prst="ellipse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517136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FastAPI 0.115.9</a:t>
            </a:r>
          </a:p>
        </p:txBody>
      </p:sp>
      <p:sp>
        <p:nvSpPr>
          <p:cNvPr id="49" name="Oval 48"/>
          <p:cNvSpPr/>
          <p:nvPr/>
        </p:nvSpPr>
        <p:spPr>
          <a:xfrm>
            <a:off x="804672" y="4892040"/>
            <a:ext cx="109728" cy="109728"/>
          </a:xfrm>
          <a:prstGeom prst="ellipse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4128" y="4828031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Uvicorn 0.34.3</a:t>
            </a:r>
          </a:p>
        </p:txBody>
      </p:sp>
      <p:sp>
        <p:nvSpPr>
          <p:cNvPr id="51" name="Oval 50"/>
          <p:cNvSpPr/>
          <p:nvPr/>
        </p:nvSpPr>
        <p:spPr>
          <a:xfrm>
            <a:off x="804672" y="5202936"/>
            <a:ext cx="109728" cy="109728"/>
          </a:xfrm>
          <a:prstGeom prst="ellipse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4128" y="5138927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Pydantic</a:t>
            </a:r>
          </a:p>
        </p:txBody>
      </p:sp>
      <p:sp>
        <p:nvSpPr>
          <p:cNvPr id="53" name="Oval 52"/>
          <p:cNvSpPr/>
          <p:nvPr/>
        </p:nvSpPr>
        <p:spPr>
          <a:xfrm>
            <a:off x="804672" y="5513831"/>
            <a:ext cx="109728" cy="109728"/>
          </a:xfrm>
          <a:prstGeom prst="ellipse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4128" y="5449823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python-dotenv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6026" y="3767328"/>
            <a:ext cx="3539642" cy="2048256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26026" y="3767328"/>
            <a:ext cx="3539642" cy="45720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82058" y="3986784"/>
            <a:ext cx="302757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A6BAF"/>
                </a:solidFill>
                <a:latin typeface="Segoe UI"/>
              </a:rPr>
              <a:t>Data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82058" y="4352544"/>
            <a:ext cx="3027578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582058" y="4581144"/>
            <a:ext cx="109728" cy="109728"/>
          </a:xfrm>
          <a:prstGeom prst="ellipse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801514" y="4517136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SQLite 3</a:t>
            </a:r>
          </a:p>
        </p:txBody>
      </p:sp>
      <p:sp>
        <p:nvSpPr>
          <p:cNvPr id="61" name="Oval 60"/>
          <p:cNvSpPr/>
          <p:nvPr/>
        </p:nvSpPr>
        <p:spPr>
          <a:xfrm>
            <a:off x="4582058" y="4892040"/>
            <a:ext cx="109728" cy="109728"/>
          </a:xfrm>
          <a:prstGeom prst="ellipse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801514" y="4828031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pandas 2.3.0</a:t>
            </a:r>
          </a:p>
        </p:txBody>
      </p:sp>
      <p:sp>
        <p:nvSpPr>
          <p:cNvPr id="63" name="Oval 62"/>
          <p:cNvSpPr/>
          <p:nvPr/>
        </p:nvSpPr>
        <p:spPr>
          <a:xfrm>
            <a:off x="4582058" y="5202936"/>
            <a:ext cx="109728" cy="109728"/>
          </a:xfrm>
          <a:prstGeom prst="ellipse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801514" y="5138927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Faker (seed 42)</a:t>
            </a:r>
          </a:p>
        </p:txBody>
      </p:sp>
      <p:sp>
        <p:nvSpPr>
          <p:cNvPr id="65" name="Oval 64"/>
          <p:cNvSpPr/>
          <p:nvPr/>
        </p:nvSpPr>
        <p:spPr>
          <a:xfrm>
            <a:off x="4582058" y="5513831"/>
            <a:ext cx="109728" cy="109728"/>
          </a:xfrm>
          <a:prstGeom prst="ellipse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01514" y="5449823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schema validator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03412" y="3767328"/>
            <a:ext cx="3539642" cy="2048256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103412" y="3767328"/>
            <a:ext cx="3539642" cy="45720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59444" y="3986784"/>
            <a:ext cx="302757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7C63"/>
                </a:solidFill>
                <a:latin typeface="Segoe UI"/>
              </a:rPr>
              <a:t>Delivery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359444" y="4352544"/>
            <a:ext cx="3027578" cy="5486"/>
          </a:xfrm>
          <a:prstGeom prst="rect">
            <a:avLst/>
          </a:prstGeom>
          <a:solidFill>
            <a:srgbClr val="E1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359444" y="4581144"/>
            <a:ext cx="109728" cy="109728"/>
          </a:xfrm>
          <a:prstGeom prst="ellipse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78900" y="4517136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Vanilla JS + CSS</a:t>
            </a:r>
          </a:p>
        </p:txBody>
      </p:sp>
      <p:sp>
        <p:nvSpPr>
          <p:cNvPr id="73" name="Oval 72"/>
          <p:cNvSpPr/>
          <p:nvPr/>
        </p:nvSpPr>
        <p:spPr>
          <a:xfrm>
            <a:off x="8359444" y="4892040"/>
            <a:ext cx="109728" cy="109728"/>
          </a:xfrm>
          <a:prstGeom prst="ellipse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578900" y="4828031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pytest · 184 tests</a:t>
            </a:r>
          </a:p>
        </p:txBody>
      </p:sp>
      <p:sp>
        <p:nvSpPr>
          <p:cNvPr id="75" name="Oval 74"/>
          <p:cNvSpPr/>
          <p:nvPr/>
        </p:nvSpPr>
        <p:spPr>
          <a:xfrm>
            <a:off x="8359444" y="5202936"/>
            <a:ext cx="109728" cy="109728"/>
          </a:xfrm>
          <a:prstGeom prst="ellipse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78900" y="5138927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Railway</a:t>
            </a:r>
          </a:p>
        </p:txBody>
      </p:sp>
      <p:sp>
        <p:nvSpPr>
          <p:cNvPr id="77" name="Oval 76"/>
          <p:cNvSpPr/>
          <p:nvPr/>
        </p:nvSpPr>
        <p:spPr>
          <a:xfrm>
            <a:off x="8359444" y="5513831"/>
            <a:ext cx="109728" cy="109728"/>
          </a:xfrm>
          <a:prstGeom prst="ellipse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578900" y="5449823"/>
            <a:ext cx="28081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5454F"/>
                </a:solidFill>
                <a:latin typeface="Segoe UI"/>
              </a:rPr>
              <a:t>GitHub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WHAT 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For the business, and for the data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481328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spc="130">
                <a:solidFill>
                  <a:srgbClr val="BE2F2A"/>
                </a:solidFill>
                <a:latin typeface="Segoe UI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59" y="1481328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spc="130">
                <a:solidFill>
                  <a:srgbClr val="0B7C63"/>
                </a:solidFill>
                <a:latin typeface="Segoe UI"/>
              </a:rP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60" b="1">
                <a:solidFill>
                  <a:srgbClr val="111119"/>
                </a:solidFill>
                <a:latin typeface="Segoe UI"/>
              </a:rPr>
              <a:t>Getting a number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773936"/>
            <a:ext cx="3749039" cy="768096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55264" y="202082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8788A"/>
                </a:solidFill>
                <a:latin typeface="Segoe UI"/>
              </a:rPr>
              <a:t>File a ticket. Wait.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894576" y="2089404"/>
            <a:ext cx="237744" cy="137160"/>
          </a:xfrm>
          <a:prstGeom prst="right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23759" y="1773936"/>
            <a:ext cx="3749039" cy="768096"/>
          </a:xfrm>
          <a:prstGeom prst="rect">
            <a:avLst/>
          </a:prstGeom>
          <a:solidFill>
            <a:srgbClr val="FAFAFC"/>
          </a:solidFill>
          <a:ln w="17780">
            <a:solidFill>
              <a:srgbClr val="0B7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1504" y="202082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11119"/>
                </a:solidFill>
                <a:latin typeface="Segoe UI"/>
              </a:rPr>
              <a:t>Ask. Read the answer.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88950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60" b="1">
                <a:solidFill>
                  <a:srgbClr val="111119"/>
                </a:solidFill>
                <a:latin typeface="Segoe UI"/>
              </a:rPr>
              <a:t>The analyst's day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651760"/>
            <a:ext cx="3749039" cy="768096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55264" y="289864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8788A"/>
                </a:solidFill>
                <a:latin typeface="Segoe UI"/>
              </a:rPr>
              <a:t>Writing routine joins.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894576" y="2967228"/>
            <a:ext cx="237744" cy="137160"/>
          </a:xfrm>
          <a:prstGeom prst="right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23759" y="2651760"/>
            <a:ext cx="3749039" cy="768096"/>
          </a:xfrm>
          <a:prstGeom prst="rect">
            <a:avLst/>
          </a:prstGeom>
          <a:solidFill>
            <a:srgbClr val="FAFAFC"/>
          </a:solidFill>
          <a:ln w="17780">
            <a:solidFill>
              <a:srgbClr val="0B7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1504" y="289864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11119"/>
                </a:solidFill>
                <a:latin typeface="Segoe UI"/>
              </a:rPr>
              <a:t>Curating the catalogue.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76732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60" b="1">
                <a:solidFill>
                  <a:srgbClr val="111119"/>
                </a:solidFill>
                <a:latin typeface="Segoe UI"/>
              </a:rPr>
              <a:t>“Revenue”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0" y="3529584"/>
            <a:ext cx="3749039" cy="768096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55264" y="377647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8788A"/>
                </a:solidFill>
                <a:latin typeface="Segoe UI"/>
              </a:rPr>
              <a:t>Depends who you ask.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894576" y="3845052"/>
            <a:ext cx="237744" cy="137160"/>
          </a:xfrm>
          <a:prstGeom prst="right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23759" y="3529584"/>
            <a:ext cx="3749039" cy="768096"/>
          </a:xfrm>
          <a:prstGeom prst="rect">
            <a:avLst/>
          </a:prstGeom>
          <a:solidFill>
            <a:srgbClr val="FAFAFC"/>
          </a:solidFill>
          <a:ln w="17780">
            <a:solidFill>
              <a:srgbClr val="0B7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61504" y="377647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11119"/>
                </a:solidFill>
                <a:latin typeface="Segoe UI"/>
              </a:rPr>
              <a:t>One governed expression.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6451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60" b="1">
                <a:solidFill>
                  <a:srgbClr val="111119"/>
                </a:solidFill>
                <a:latin typeface="Segoe UI"/>
              </a:rPr>
              <a:t>Confidence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4407408"/>
            <a:ext cx="3749039" cy="768096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55264" y="465429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8788A"/>
                </a:solidFill>
                <a:latin typeface="Segoe UI"/>
              </a:rPr>
              <a:t>Trust the spreadsheet.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6894576" y="4722876"/>
            <a:ext cx="237744" cy="137160"/>
          </a:xfrm>
          <a:prstGeom prst="right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23759" y="4407408"/>
            <a:ext cx="3749039" cy="768096"/>
          </a:xfrm>
          <a:prstGeom prst="rect">
            <a:avLst/>
          </a:prstGeom>
          <a:solidFill>
            <a:srgbClr val="FAFAFC"/>
          </a:solidFill>
          <a:ln w="17780">
            <a:solidFill>
              <a:srgbClr val="0B7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61504" y="465429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11119"/>
                </a:solidFill>
                <a:latin typeface="Segoe UI"/>
              </a:rPr>
              <a:t>Read the SQL and the trace.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376672"/>
            <a:ext cx="2609011" cy="786384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376672"/>
            <a:ext cx="2609011" cy="457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581131"/>
            <a:ext cx="26090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11119"/>
                </a:solidFill>
                <a:latin typeface="Segoe UI"/>
              </a:rPr>
              <a:t>83.8%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895685"/>
            <a:ext cx="260901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6D00B3"/>
                </a:solidFill>
                <a:latin typeface="Segoe UI"/>
              </a:rPr>
              <a:t>LESS PROMPT CONTEXT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77107" y="5376672"/>
            <a:ext cx="2609011" cy="786384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77107" y="5376672"/>
            <a:ext cx="2609011" cy="45720"/>
          </a:xfrm>
          <a:prstGeom prst="rect">
            <a:avLst/>
          </a:prstGeom>
          <a:solidFill>
            <a:srgbClr val="0A6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77107" y="5581131"/>
            <a:ext cx="26090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11119"/>
                </a:solidFill>
                <a:latin typeface="Segoe UI"/>
              </a:rPr>
              <a:t>6.2×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07" y="5895685"/>
            <a:ext cx="260901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0A6BAF"/>
                </a:solidFill>
                <a:latin typeface="Segoe UI"/>
              </a:rPr>
              <a:t>SMALLER PAYLOAD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05575" y="5376672"/>
            <a:ext cx="2609011" cy="786384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05575" y="5376672"/>
            <a:ext cx="2609011" cy="45720"/>
          </a:xfrm>
          <a:prstGeom prst="rect">
            <a:avLst/>
          </a:prstGeom>
          <a:solidFill>
            <a:srgbClr val="6D0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05575" y="5581131"/>
            <a:ext cx="26090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11119"/>
                </a:solidFill>
                <a:latin typeface="Segoe UI"/>
              </a:rPr>
              <a:t>441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5575" y="5895685"/>
            <a:ext cx="260901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6D00B3"/>
                </a:solidFill>
                <a:latin typeface="Segoe UI"/>
              </a:rPr>
              <a:t>NODES SERVING THE PLAN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34043" y="5376672"/>
            <a:ext cx="2609011" cy="786384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34043" y="5376672"/>
            <a:ext cx="2609011" cy="45720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34043" y="5581131"/>
            <a:ext cx="26090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11119"/>
                </a:solidFill>
                <a:latin typeface="Segoe UI"/>
              </a:rPr>
              <a:t>184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34043" y="5895685"/>
            <a:ext cx="260901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spc="90">
                <a:solidFill>
                  <a:srgbClr val="0B7C63"/>
                </a:solidFill>
                <a:latin typeface="Segoe UI"/>
              </a:rPr>
              <a:t>TESTS ON THE LOOP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02336"/>
            <a:ext cx="50292" cy="274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29768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6D00B3"/>
                </a:solidFill>
                <a:latin typeface="Segoe U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11119"/>
                </a:solidFill>
                <a:latin typeface="Segoe UI"/>
              </a:rPr>
              <a:t>What we will build — and what we want to find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1094415" cy="12801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40680" cy="4206240"/>
          </a:xfrm>
          <a:prstGeom prst="rect">
            <a:avLst/>
          </a:prstGeom>
          <a:solidFill>
            <a:srgbClr val="F6F6F9"/>
          </a:solidFill>
          <a:ln w="12700">
            <a:solidFill>
              <a:srgbClr val="E1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81328"/>
            <a:ext cx="5440680" cy="54864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682496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B7C63"/>
                </a:solidFill>
                <a:latin typeface="Segoe UI"/>
              </a:rPr>
              <a:t>TO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4892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8788A"/>
                </a:solidFill>
                <a:latin typeface="Segoe UI"/>
              </a:rPr>
              <a:t>Committed · next two quarters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59" y="2414016"/>
            <a:ext cx="219456" cy="219456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41401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2359152"/>
            <a:ext cx="4471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1">
                <a:solidFill>
                  <a:srgbClr val="111119"/>
                </a:solidFill>
                <a:latin typeface="Segoe UI"/>
              </a:rPr>
              <a:t>Run the live accuracy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2633472"/>
            <a:ext cx="447141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>
                <a:solidFill>
                  <a:srgbClr val="45454F"/>
                </a:solidFill>
                <a:latin typeface="Segoe UI"/>
              </a:rPr>
              <a:t>The harness exists; the number does not yet. This is the gate for everything else.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59" y="3255264"/>
            <a:ext cx="219456" cy="219456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325526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200400"/>
            <a:ext cx="4471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1">
                <a:solidFill>
                  <a:srgbClr val="111119"/>
                </a:solidFill>
                <a:latin typeface="Segoe UI"/>
              </a:rPr>
              <a:t>Point it at real warehouse metadata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19" y="3474720"/>
            <a:ext cx="447141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>
                <a:solidFill>
                  <a:srgbClr val="45454F"/>
                </a:solidFill>
                <a:latin typeface="Segoe UI"/>
              </a:rPr>
              <a:t>The architecture is catalogue-driven — a new domain needs no code change.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59" y="4096511"/>
            <a:ext cx="219456" cy="219456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4096511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19" y="4041648"/>
            <a:ext cx="4471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1">
                <a:solidFill>
                  <a:srgbClr val="111119"/>
                </a:solidFill>
                <a:latin typeface="Segoe UI"/>
              </a:rPr>
              <a:t>Harden the prompt against the eval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19" y="4315968"/>
            <a:ext cx="447141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>
                <a:solidFill>
                  <a:srgbClr val="45454F"/>
                </a:solidFill>
                <a:latin typeface="Segoe UI"/>
              </a:rPr>
              <a:t>A/B every change. On a 70B model, prompt edits regress as often as they help.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59" y="4937759"/>
            <a:ext cx="219456" cy="219456"/>
          </a:xfrm>
          <a:prstGeom prst="rect">
            <a:avLst/>
          </a:prstGeom>
          <a:solidFill>
            <a:srgbClr val="0B7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937759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19" y="4882896"/>
            <a:ext cx="4471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1">
                <a:solidFill>
                  <a:srgbClr val="111119"/>
                </a:solidFill>
                <a:latin typeface="Segoe UI"/>
              </a:rPr>
              <a:t>Row-level access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19" y="5157216"/>
            <a:ext cx="447141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>
                <a:solidFill>
                  <a:srgbClr val="45454F"/>
                </a:solidFill>
                <a:latin typeface="Segoe UI"/>
              </a:rPr>
              <a:t>Today the agent reads everything. Production needs per-user scoping in the graph.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18504" y="1481328"/>
            <a:ext cx="5324551" cy="4206240"/>
          </a:xfrm>
          <a:prstGeom prst="rect">
            <a:avLst/>
          </a:prstGeom>
          <a:gradFill rotWithShape="1">
            <a:gsLst>
              <a:gs pos="0">
                <a:srgbClr val="F7EFFE"/>
              </a:gs>
              <a:gs pos="100000">
                <a:srgbClr val="ECDDF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18504" y="1481328"/>
            <a:ext cx="5324551" cy="5486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92824" y="1682496"/>
            <a:ext cx="47759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6D00B3"/>
                </a:solidFill>
                <a:latin typeface="Segoe UI"/>
              </a:rPr>
              <a:t>TO EXPLORE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92824" y="1993392"/>
            <a:ext cx="477591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8788A"/>
                </a:solidFill>
                <a:latin typeface="Segoe UI"/>
              </a:rPr>
              <a:t>Open questions · genuinely unproven</a:t>
            </a:r>
          </a:p>
        </p:txBody>
      </p:sp>
      <p:sp>
        <p:nvSpPr>
          <p:cNvPr id="31" name="Oval 30"/>
          <p:cNvSpPr/>
          <p:nvPr/>
        </p:nvSpPr>
        <p:spPr>
          <a:xfrm>
            <a:off x="6592824" y="2414016"/>
            <a:ext cx="219456" cy="219456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92824" y="241401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58584" y="2359152"/>
            <a:ext cx="43552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60" b="1">
                <a:solidFill>
                  <a:srgbClr val="6D00B3"/>
                </a:solidFill>
                <a:latin typeface="Segoe UI"/>
              </a:rPr>
              <a:t>Can the graph hold facts, not just schema?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58584" y="2670048"/>
            <a:ext cx="435528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40" b="0">
                <a:solidFill>
                  <a:srgbClr val="45454F"/>
                </a:solidFill>
                <a:latin typeface="Segoe UI"/>
              </a:rPr>
              <a:t>Today it stores metadata. If it also stored derived facts, the agent could reason over answers instead of re-querying for them.</a:t>
            </a:r>
          </a:p>
        </p:txBody>
      </p:sp>
      <p:sp>
        <p:nvSpPr>
          <p:cNvPr id="35" name="Oval 34"/>
          <p:cNvSpPr/>
          <p:nvPr/>
        </p:nvSpPr>
        <p:spPr>
          <a:xfrm>
            <a:off x="6592824" y="3547872"/>
            <a:ext cx="219456" cy="219456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54787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58584" y="3493008"/>
            <a:ext cx="43552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60" b="1">
                <a:solidFill>
                  <a:srgbClr val="6D00B3"/>
                </a:solidFill>
                <a:latin typeface="Segoe UI"/>
              </a:rPr>
              <a:t>Should the agent write back what it learns?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58584" y="3803904"/>
            <a:ext cx="435528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40" b="0">
                <a:solidFill>
                  <a:srgbClr val="45454F"/>
                </a:solidFill>
                <a:latin typeface="Segoe UI"/>
              </a:rPr>
              <a:t>Every resolved question is a new alias, a new metric, a better description. A graph that improves each time it is used.</a:t>
            </a:r>
          </a:p>
        </p:txBody>
      </p:sp>
      <p:sp>
        <p:nvSpPr>
          <p:cNvPr id="39" name="Oval 38"/>
          <p:cNvSpPr/>
          <p:nvPr/>
        </p:nvSpPr>
        <p:spPr>
          <a:xfrm>
            <a:off x="6592824" y="4681727"/>
            <a:ext cx="219456" cy="219456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92824" y="4681727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58584" y="4626864"/>
            <a:ext cx="43552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60" b="1">
                <a:solidFill>
                  <a:srgbClr val="6D00B3"/>
                </a:solidFill>
                <a:latin typeface="Segoe UI"/>
              </a:rPr>
              <a:t>Where is the honest ceiling?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58584" y="4937759"/>
            <a:ext cx="435528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40" b="0">
                <a:solidFill>
                  <a:srgbClr val="45454F"/>
                </a:solidFill>
                <a:latin typeface="Segoe UI"/>
              </a:rPr>
              <a:t>Some questions are ambiguous to a human analyst too. We want the system to say so — and we do not yet know how often that is.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870448"/>
            <a:ext cx="110944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45454F"/>
                </a:solidFill>
                <a:latin typeface="Segoe UI"/>
              </a:rPr>
              <a:t>The left column is engineering. </a:t>
            </a:r>
            <a:r>
              <a:rPr sz="1150" b="1">
                <a:solidFill>
                  <a:srgbClr val="6D00B3"/>
                </a:solidFill>
                <a:latin typeface="Segoe UI"/>
              </a:rPr>
              <a:t>The right column is where the interesting work is.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39165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0" spc="40">
                <a:solidFill>
                  <a:srgbClr val="78788A"/>
                </a:solidFill>
                <a:latin typeface="Segoe UI"/>
              </a:rPr>
              <a:t>DataPulse  ·  Knowledge-Graph Grounded Text-to-SQL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14255" y="6391656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00" b="1">
                <a:solidFill>
                  <a:srgbClr val="6D00B3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A007A"/>
              </a:gs>
              <a:gs pos="100000">
                <a:srgbClr val="A100FF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18320" y="1188720"/>
            <a:ext cx="164592" cy="164592"/>
          </a:xfrm>
          <a:prstGeom prst="ellipse">
            <a:avLst/>
          </a:prstGeom>
          <a:solidFill>
            <a:srgbClr val="C98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1783080"/>
            <a:ext cx="109728" cy="109728"/>
          </a:xfrm>
          <a:prstGeom prst="ellipse">
            <a:avLst/>
          </a:prstGeom>
          <a:solidFill>
            <a:srgbClr val="C98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0" y="2286000"/>
            <a:ext cx="109728" cy="109728"/>
          </a:xfrm>
          <a:prstGeom prst="ellipse">
            <a:avLst/>
          </a:prstGeom>
          <a:solidFill>
            <a:srgbClr val="C98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49840" y="2880360"/>
            <a:ext cx="146304" cy="146304"/>
          </a:xfrm>
          <a:prstGeom prst="ellipse">
            <a:avLst/>
          </a:prstGeom>
          <a:solidFill>
            <a:srgbClr val="C98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38560" y="2468880"/>
            <a:ext cx="91440" cy="91440"/>
          </a:xfrm>
          <a:prstGeom prst="ellipse">
            <a:avLst/>
          </a:prstGeom>
          <a:solidFill>
            <a:srgbClr val="C98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9500616" y="1271016"/>
            <a:ext cx="1344168" cy="512064"/>
          </a:xfrm>
          <a:prstGeom prst="line">
            <a:avLst/>
          </a:prstGeom>
          <a:ln w="13970">
            <a:solidFill>
              <a:srgbClr val="9E5C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8924544" y="1271016"/>
            <a:ext cx="576072" cy="1014984"/>
          </a:xfrm>
          <a:prstGeom prst="line">
            <a:avLst/>
          </a:prstGeom>
          <a:ln w="13970">
            <a:solidFill>
              <a:srgbClr val="9E5C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0222992" y="1837943"/>
            <a:ext cx="621792" cy="1042417"/>
          </a:xfrm>
          <a:prstGeom prst="line">
            <a:avLst/>
          </a:prstGeom>
          <a:ln w="13970">
            <a:solidFill>
              <a:srgbClr val="9E5C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924544" y="2340864"/>
            <a:ext cx="1225296" cy="594360"/>
          </a:xfrm>
          <a:prstGeom prst="line">
            <a:avLst/>
          </a:prstGeom>
          <a:ln w="13970">
            <a:solidFill>
              <a:srgbClr val="9E5C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844784" y="1837943"/>
            <a:ext cx="539496" cy="630937"/>
          </a:xfrm>
          <a:prstGeom prst="line">
            <a:avLst/>
          </a:prstGeom>
          <a:ln w="13970">
            <a:solidFill>
              <a:srgbClr val="9E5C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48640" y="1517904"/>
            <a:ext cx="50292" cy="310896"/>
          </a:xfrm>
          <a:prstGeom prst="rect">
            <a:avLst/>
          </a:prstGeom>
          <a:solidFill>
            <a:srgbClr val="C98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55448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 spc="130">
                <a:solidFill>
                  <a:srgbClr val="E4C6FC"/>
                </a:solidFill>
                <a:latin typeface="Segoe UI"/>
              </a:rPr>
              <a:t>IN ONE 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048256"/>
            <a:ext cx="8595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4200" b="0">
                <a:solidFill>
                  <a:srgbClr val="E9D6FB"/>
                </a:solidFill>
                <a:latin typeface="Segoe UI Light"/>
              </a:rPr>
              <a:t>The model brings language.</a:t>
            </a:r>
          </a:p>
          <a:p>
            <a:pPr algn="l">
              <a:lnSpc>
                <a:spcPct val="122000"/>
              </a:lnSpc>
            </a:pPr>
            <a:r>
              <a:rPr sz="4200" b="1">
                <a:solidFill>
                  <a:srgbClr val="FFFFFF"/>
                </a:solidFill>
                <a:latin typeface="Segoe UI Light"/>
              </a:rPr>
              <a:t>The graph brings structure.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33087"/>
            <a:ext cx="4206240" cy="12801"/>
          </a:xfrm>
          <a:prstGeom prst="rect">
            <a:avLst/>
          </a:prstGeom>
          <a:solidFill>
            <a:srgbClr val="C98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8912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400" b="0">
                <a:solidFill>
                  <a:srgbClr val="DDBCF8"/>
                </a:solidFill>
                <a:latin typeface="Segoe UI"/>
              </a:rPr>
              <a:t>Keeping those two responsibilities apart is the entire design — and the reason the answers hold up.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30368"/>
            <a:ext cx="2272284" cy="786384"/>
          </a:xfrm>
          <a:prstGeom prst="rect">
            <a:avLst/>
          </a:prstGeom>
          <a:solidFill>
            <a:srgbClr val="5E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230368"/>
            <a:ext cx="2272284" cy="36576"/>
          </a:xfrm>
          <a:prstGeom prst="rect">
            <a:avLst/>
          </a:prstGeom>
          <a:solidFill>
            <a:srgbClr val="C98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413248"/>
            <a:ext cx="22722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83.8%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724144"/>
            <a:ext cx="227228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spc="90">
                <a:solidFill>
                  <a:srgbClr val="D3A8F7"/>
                </a:solidFill>
                <a:latin typeface="Segoe UI"/>
              </a:rPr>
              <a:t>LESS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22092" y="5230368"/>
            <a:ext cx="2272284" cy="786384"/>
          </a:xfrm>
          <a:prstGeom prst="rect">
            <a:avLst/>
          </a:prstGeom>
          <a:solidFill>
            <a:srgbClr val="5E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22092" y="5230368"/>
            <a:ext cx="2272284" cy="36576"/>
          </a:xfrm>
          <a:prstGeom prst="rect">
            <a:avLst/>
          </a:prstGeom>
          <a:solidFill>
            <a:srgbClr val="C98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22092" y="5413248"/>
            <a:ext cx="22722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6.2×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2092" y="5724144"/>
            <a:ext cx="227228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spc="90">
                <a:solidFill>
                  <a:srgbClr val="D3A8F7"/>
                </a:solidFill>
                <a:latin typeface="Segoe UI"/>
              </a:rPr>
              <a:t>SMALLER PAYLOAD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95544" y="5230368"/>
            <a:ext cx="2272284" cy="786384"/>
          </a:xfrm>
          <a:prstGeom prst="rect">
            <a:avLst/>
          </a:prstGeom>
          <a:solidFill>
            <a:srgbClr val="5E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95544" y="5230368"/>
            <a:ext cx="2272284" cy="36576"/>
          </a:xfrm>
          <a:prstGeom prst="rect">
            <a:avLst/>
          </a:prstGeom>
          <a:solidFill>
            <a:srgbClr val="C98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95544" y="5413248"/>
            <a:ext cx="22722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441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95544" y="5724144"/>
            <a:ext cx="227228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spc="90">
                <a:solidFill>
                  <a:srgbClr val="D3A8F7"/>
                </a:solidFill>
                <a:latin typeface="Segoe UI"/>
              </a:rPr>
              <a:t>NODES PLANNING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8996" y="5230368"/>
            <a:ext cx="2272284" cy="786384"/>
          </a:xfrm>
          <a:prstGeom prst="rect">
            <a:avLst/>
          </a:prstGeom>
          <a:solidFill>
            <a:srgbClr val="5E0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8996" y="5230368"/>
            <a:ext cx="2272284" cy="36576"/>
          </a:xfrm>
          <a:prstGeom prst="rect">
            <a:avLst/>
          </a:prstGeom>
          <a:solidFill>
            <a:srgbClr val="C98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68996" y="5413248"/>
            <a:ext cx="22722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184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68996" y="5724144"/>
            <a:ext cx="227228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spc="90">
                <a:solidFill>
                  <a:srgbClr val="D3A8F7"/>
                </a:solidFill>
                <a:latin typeface="Segoe UI"/>
              </a:rPr>
              <a:t>TESTS GUARDING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291072"/>
            <a:ext cx="9692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spc="50">
                <a:solidFill>
                  <a:srgbClr val="C092E8"/>
                </a:solidFill>
                <a:latin typeface="Segoe UI"/>
              </a:rPr>
              <a:t>DataPulse   ·   Live on Railway   ·   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