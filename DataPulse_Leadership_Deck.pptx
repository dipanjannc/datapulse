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A007A"/>
              </a:gs>
              <a:gs pos="100000">
                <a:srgbClr val="A100FF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Segoe UI Light"/>
              </a:rPr>
              <a:t>DataPulse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8346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Segoe UI"/>
              </a:rPr>
              <a:t>Knowledge Graph · Text-to-SQL ·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38328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5B0F6"/>
                </a:solidFill>
                <a:latin typeface="Segoe UI"/>
              </a:rPr>
              <a:t>Accenture  |  August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63927" y="4023360"/>
            <a:ext cx="237744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63927" y="4023360"/>
            <a:ext cx="2377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D00B3"/>
                </a:solidFill>
                <a:latin typeface="Segoe UI"/>
              </a:rPr>
              <a:t>Neo4j AuraDB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7127" y="4023360"/>
            <a:ext cx="237744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07127" y="4023360"/>
            <a:ext cx="2377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D00B3"/>
                </a:solidFill>
                <a:latin typeface="Segoe UI"/>
              </a:rPr>
              <a:t>LLaMA-3.3-70b · Groq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50327" y="4023360"/>
            <a:ext cx="237744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0327" y="4023360"/>
            <a:ext cx="2377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D00B3"/>
                </a:solidFill>
                <a:latin typeface="Segoe UI"/>
              </a:rPr>
              <a:t>FastAPI · SQLite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Enterprise data is locked in complexity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551834" cy="420624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3551834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45336"/>
            <a:ext cx="333237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1119"/>
                </a:solidFill>
                <a:latin typeface="Segoe UI"/>
              </a:rPr>
              <a:t>Schema Overload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9384"/>
            <a:ext cx="33323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50 tables · 23k rows
no LLM knows full layout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617719"/>
            <a:ext cx="3368954" cy="82296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617719"/>
            <a:ext cx="3368954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831689"/>
            <a:ext cx="33689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11119"/>
                </a:solidFill>
                <a:latin typeface="Segoe UI"/>
              </a:rPr>
              <a:t>10,224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60873"/>
            <a:ext cx="336895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A100FF"/>
                </a:solidFill>
                <a:latin typeface="Segoe UI"/>
              </a:rPr>
              <a:t>FULL-SCHEMA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9930" y="1417320"/>
            <a:ext cx="3551834" cy="420624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9930" y="1417320"/>
            <a:ext cx="3551834" cy="54864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9658" y="1545336"/>
            <a:ext cx="333237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1119"/>
                </a:solidFill>
                <a:latin typeface="Segoe UI"/>
              </a:rPr>
              <a:t>Hallucination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9658" y="1929384"/>
            <a:ext cx="33323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LLMs guess column names,
fabricate joins, invent metrics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11370" y="4617719"/>
            <a:ext cx="3368954" cy="82296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11370" y="4617719"/>
            <a:ext cx="3368954" cy="457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1370" y="4831689"/>
            <a:ext cx="33689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11119"/>
                </a:solidFill>
                <a:latin typeface="Segoe UI"/>
              </a:rPr>
              <a:t>~40%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370" y="5160873"/>
            <a:ext cx="336895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A6BAF"/>
                </a:solidFill>
                <a:latin typeface="Segoe UI"/>
              </a:rPr>
              <a:t>ERROR RATE WITHOUT GROUNDING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1220" y="1417320"/>
            <a:ext cx="3551834" cy="420624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1220" y="1417320"/>
            <a:ext cx="3551834" cy="54864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00948" y="1545336"/>
            <a:ext cx="333237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1119"/>
                </a:solidFill>
                <a:latin typeface="Segoe UI"/>
              </a:rPr>
              <a:t>Context Waste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948" y="1929384"/>
            <a:ext cx="33323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Entire schema in every prompt
exhausts token budget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2660" y="4617719"/>
            <a:ext cx="3368954" cy="82296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2660" y="4617719"/>
            <a:ext cx="3368954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2660" y="4831689"/>
            <a:ext cx="33689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11119"/>
                </a:solidFill>
                <a:latin typeface="Segoe UI"/>
              </a:rPr>
              <a:t>6.2×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2660" y="5160873"/>
            <a:ext cx="336895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B7C63"/>
                </a:solidFill>
                <a:latin typeface="Segoe UI"/>
              </a:rPr>
              <a:t>TOKENS WASTED VS KG SLICE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DataPulse: ask in plain English, get SQL-backed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047" y="2606040"/>
            <a:ext cx="1828800" cy="731520"/>
          </a:xfrm>
          <a:prstGeom prst="roundRect">
            <a:avLst/>
          </a:prstGeom>
          <a:solidFill>
            <a:srgbClr val="EFEFF4"/>
          </a:solidFill>
          <a:ln w="19050">
            <a:solidFill>
              <a:srgbClr val="C6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73405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11119"/>
                </a:solidFill>
                <a:latin typeface="Segoe UI"/>
              </a:rPr>
              <a:t>Natural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9900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111119"/>
                </a:solidFill>
                <a:latin typeface="Segoe UI"/>
              </a:rPr>
              <a:t>Question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66847" y="2843784"/>
            <a:ext cx="320040" cy="256032"/>
          </a:xfrm>
          <a:prstGeom prst="right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86887" y="2606040"/>
            <a:ext cx="1828800" cy="731520"/>
          </a:xfrm>
          <a:prstGeom prst="roundRect">
            <a:avLst/>
          </a:prstGeom>
          <a:solidFill>
            <a:srgbClr val="EEDDFB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6887" y="273405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6D00B3"/>
                </a:solidFill>
                <a:latin typeface="Segoe UI"/>
              </a:rPr>
              <a:t>Knowledge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6887" y="29900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D00B3"/>
                </a:solidFill>
                <a:latin typeface="Segoe UI"/>
              </a:rPr>
              <a:t>Retriever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5687" y="2843784"/>
            <a:ext cx="320040" cy="256032"/>
          </a:xfrm>
          <a:prstGeom prst="right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35727" y="2606040"/>
            <a:ext cx="1920240" cy="731520"/>
          </a:xfrm>
          <a:prstGeom prst="roundRect">
            <a:avLst/>
          </a:prstGeom>
          <a:solidFill>
            <a:srgbClr val="A100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5727" y="2734056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ReAct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5727" y="2990088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Segoe UI"/>
              </a:rPr>
              <a:t>LLaMA-3.3-70b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5967" y="2843784"/>
            <a:ext cx="320040" cy="256032"/>
          </a:xfrm>
          <a:prstGeom prst="right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76007" y="2606040"/>
            <a:ext cx="1828800" cy="7315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0A6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6007" y="273405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0A6BAF"/>
                </a:solidFill>
                <a:latin typeface="Segoe UI"/>
              </a:rPr>
              <a:t>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6007" y="29900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A6BAF"/>
                </a:solidFill>
                <a:latin typeface="Segoe UI"/>
              </a:rPr>
              <a:t>Query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204807" y="2843784"/>
            <a:ext cx="320040" cy="256032"/>
          </a:xfrm>
          <a:prstGeom prst="right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24847" y="2606040"/>
            <a:ext cx="1828800" cy="731520"/>
          </a:xfrm>
          <a:prstGeom prst="roundRect">
            <a:avLst/>
          </a:prstGeom>
          <a:solidFill>
            <a:srgbClr val="EFEFF4"/>
          </a:solidFill>
          <a:ln w="1905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4847" y="273405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0B7C63"/>
                </a:solidFill>
                <a:latin typeface="Segoe UI"/>
              </a:rPr>
              <a:t>Verified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4847" y="29900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B7C63"/>
                </a:solidFill>
                <a:latin typeface="Segoe UI"/>
              </a:rPr>
              <a:t>Answer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86887" y="341071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Neo4j · 441 nodes · 384-d vectors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5727" y="3410712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≤6 steps · tool-calling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6007" y="341071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50 tables · read-only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5394960"/>
            <a:ext cx="2834640" cy="402336"/>
          </a:xfrm>
          <a:prstGeom prst="roundRect">
            <a:avLst/>
          </a:prstGeom>
          <a:solidFill>
            <a:srgbClr val="EFEFF4"/>
          </a:solidFill>
          <a:ln w="12700">
            <a:solidFill>
              <a:srgbClr val="C6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5394960"/>
            <a:ext cx="2834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6D00B3"/>
                </a:solidFill>
                <a:latin typeface="Segoe UI"/>
              </a:rPr>
              <a:t>3–8 s end-to-end · Groq LPU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Full-stack: Vercel → Render → Groq → Neo4j → SQLite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011680" cy="640080"/>
          </a:xfrm>
          <a:prstGeom prst="roundRect">
            <a:avLst/>
          </a:prstGeom>
          <a:solidFill>
            <a:srgbClr val="EFEFF4"/>
          </a:solidFill>
          <a:ln w="19050">
            <a:solidFill>
              <a:srgbClr val="C6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11119"/>
                </a:solidFill>
                <a:latin typeface="Segoe UI"/>
              </a:rPr>
              <a:t>User Browser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057400"/>
            <a:ext cx="0" cy="274320"/>
          </a:xfrm>
          <a:prstGeom prst="line">
            <a:avLst/>
          </a:prstGeom>
          <a:ln w="19050">
            <a:solidFill>
              <a:srgbClr val="C6C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" y="2331720"/>
            <a:ext cx="2011680" cy="640080"/>
          </a:xfrm>
          <a:prstGeom prst="roundRect">
            <a:avLst/>
          </a:prstGeom>
          <a:solidFill>
            <a:srgbClr val="EEDDFB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D00B3"/>
                </a:solidFill>
                <a:latin typeface="Segoe UI"/>
              </a:rPr>
              <a:t>Vercel CDN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60320" y="2587752"/>
            <a:ext cx="365760" cy="219456"/>
          </a:xfrm>
          <a:prstGeom prst="right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26080" y="2331720"/>
            <a:ext cx="2560320" cy="640080"/>
          </a:xfrm>
          <a:prstGeom prst="round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2331720"/>
            <a:ext cx="2560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Render / FastAPI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2587752"/>
            <a:ext cx="365760" cy="219456"/>
          </a:xfrm>
          <a:prstGeom prst="right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52160" y="2331720"/>
            <a:ext cx="2560320" cy="640080"/>
          </a:xfrm>
          <a:prstGeom prst="round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2331720"/>
            <a:ext cx="2560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Groq / LLaMA-3.3-70b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2999232"/>
            <a:ext cx="2560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← tool calls →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206240" y="2971800"/>
            <a:ext cx="0" cy="274320"/>
          </a:xfrm>
          <a:prstGeom prst="line">
            <a:avLst/>
          </a:prstGeom>
          <a:ln w="15875">
            <a:solidFill>
              <a:srgbClr val="6D0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560320" y="3246120"/>
            <a:ext cx="2560320" cy="640080"/>
          </a:xfrm>
          <a:prstGeom prst="roundRect">
            <a:avLst/>
          </a:prstGeom>
          <a:solidFill>
            <a:srgbClr val="D5B0F6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310128"/>
            <a:ext cx="2560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6D00B3"/>
                </a:solidFill>
                <a:latin typeface="Segoe UI"/>
              </a:rPr>
              <a:t>Neo4j AuraDB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566160"/>
            <a:ext cx="2560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5454F"/>
                </a:solidFill>
                <a:latin typeface="Segoe UI"/>
              </a:rPr>
              <a:t>441 nodes · 3 vector indexes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54880" y="2971800"/>
            <a:ext cx="2194560" cy="274320"/>
          </a:xfrm>
          <a:prstGeom prst="line">
            <a:avLst/>
          </a:prstGeom>
          <a:ln w="15875">
            <a:solidFill>
              <a:srgbClr val="0A6B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0" y="3246120"/>
            <a:ext cx="2560320" cy="6400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0A6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3310128"/>
            <a:ext cx="2560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A6BAF"/>
                </a:solidFill>
                <a:latin typeface="Segoe UI"/>
              </a:rPr>
              <a:t>SQLite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566160"/>
            <a:ext cx="2560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5454F"/>
                </a:solidFill>
                <a:latin typeface="Segoe UI"/>
              </a:rPr>
              <a:t>50 tables · 23k rows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40480" y="3886200"/>
            <a:ext cx="0" cy="274320"/>
          </a:xfrm>
          <a:prstGeom prst="line">
            <a:avLst/>
          </a:prstGeom>
          <a:ln w="12700">
            <a:solidFill>
              <a:srgbClr val="C6C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560320" y="4160520"/>
            <a:ext cx="2560320" cy="548640"/>
          </a:xfrm>
          <a:prstGeom prst="round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4242816"/>
            <a:ext cx="2560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45454F"/>
                </a:solidFill>
                <a:latin typeface="Segoe UI"/>
              </a:rPr>
              <a:t>fastembed ONNX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4462272"/>
            <a:ext cx="2560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8788A"/>
                </a:solidFill>
                <a:latin typeface="Segoe UI"/>
              </a:rPr>
              <a:t>all-MiniLM-L6-v2 · 384-d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1417320"/>
            <a:ext cx="2606040" cy="384048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48132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11119"/>
                </a:solidFill>
                <a:latin typeface="Segoe UI"/>
              </a:rPr>
              <a:t>Tech Stack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26880" y="1719072"/>
            <a:ext cx="2606040" cy="22860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1792224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FastAPI · uvicorn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2203704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Neo4j Python driver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615184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groq SDK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026664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fastembed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438144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python-dotenv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849624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aiofiles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261104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pandas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KNOWLEDGE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Schema encoded as a navigable node-link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645920" cy="548640"/>
          </a:xfrm>
          <a:prstGeom prst="roundRect">
            <a:avLst/>
          </a:prstGeom>
          <a:solidFill>
            <a:srgbClr val="EEDDFB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28799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60" b="1">
                <a:solidFill>
                  <a:srgbClr val="A100FF"/>
                </a:solidFill>
                <a:latin typeface="Segoe UI"/>
              </a:rPr>
              <a:t>DOMAIN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103120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5 nodes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2377440"/>
            <a:ext cx="0" cy="365760"/>
          </a:xfrm>
          <a:prstGeom prst="line">
            <a:avLst/>
          </a:prstGeom>
          <a:ln w="15875">
            <a:solidFill>
              <a:srgbClr val="A1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463040" y="2743200"/>
            <a:ext cx="164592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743200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60" b="1">
                <a:solidFill>
                  <a:srgbClr val="6D00B3"/>
                </a:solidFill>
                <a:latin typeface="Segoe UI"/>
              </a:rPr>
              <a:t>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017520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50 nodes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600200" y="3291840"/>
            <a:ext cx="685800" cy="365760"/>
          </a:xfrm>
          <a:prstGeom prst="line">
            <a:avLst/>
          </a:prstGeom>
          <a:ln w="12700">
            <a:solidFill>
              <a:srgbClr val="6D0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86000" y="3291840"/>
            <a:ext cx="685800" cy="365760"/>
          </a:xfrm>
          <a:prstGeom prst="line">
            <a:avLst/>
          </a:prstGeom>
          <a:ln w="12700">
            <a:solidFill>
              <a:srgbClr val="6D0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365760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0A6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34740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60" b="1">
                <a:solidFill>
                  <a:srgbClr val="0A6BAF"/>
                </a:solidFill>
                <a:latin typeface="Segoe UI"/>
              </a:rPr>
              <a:t>COLUMN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9060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373 nodes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365760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0A6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3634740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60" b="1">
                <a:solidFill>
                  <a:srgbClr val="0A6BAF"/>
                </a:solidFill>
                <a:latin typeface="Segoe UI"/>
              </a:rPr>
              <a:t>COLUMN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909060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373 nodes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86000" y="4160520"/>
            <a:ext cx="0" cy="411480"/>
          </a:xfrm>
          <a:prstGeom prst="line">
            <a:avLst/>
          </a:prstGeom>
          <a:ln w="12700">
            <a:solidFill>
              <a:srgbClr val="0A6B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600200" y="4572000"/>
            <a:ext cx="1371600" cy="502920"/>
          </a:xfrm>
          <a:prstGeom prst="roundRect">
            <a:avLst/>
          </a:prstGeom>
          <a:solidFill>
            <a:srgbClr val="E0F4F0"/>
          </a:solidFill>
          <a:ln w="1905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49140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60" b="1">
                <a:solidFill>
                  <a:srgbClr val="0B7C63"/>
                </a:solidFill>
                <a:latin typeface="Segoe UI"/>
              </a:rPr>
              <a:t>METRIC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23460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13 nodes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920240"/>
            <a:ext cx="2459736" cy="118872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920240"/>
            <a:ext cx="2459736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229307"/>
            <a:ext cx="24597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11119"/>
                </a:solidFill>
                <a:latin typeface="Segoe UI"/>
              </a:rPr>
              <a:t>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704795"/>
            <a:ext cx="2459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TOTAL NODES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61704" y="1920240"/>
            <a:ext cx="2459736" cy="118872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61704" y="1920240"/>
            <a:ext cx="2459736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61704" y="2229307"/>
            <a:ext cx="24597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11119"/>
                </a:solidFill>
                <a:latin typeface="Segoe UI"/>
              </a:rPr>
              <a:t>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1704" y="2704795"/>
            <a:ext cx="2459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:REFERENCES EDGES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337560"/>
            <a:ext cx="2459736" cy="118872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3337560"/>
            <a:ext cx="2459736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46627"/>
            <a:ext cx="24597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11119"/>
                </a:solidFill>
                <a:latin typeface="Segoe U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122115"/>
            <a:ext cx="2459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VECTOR INDEXES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61704" y="3337560"/>
            <a:ext cx="2459736" cy="118872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61704" y="3337560"/>
            <a:ext cx="2459736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61704" y="3646627"/>
            <a:ext cx="24597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11119"/>
                </a:solidFill>
                <a:latin typeface="Segoe UI"/>
              </a:rPr>
              <a:t>384-d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61704" y="4122115"/>
            <a:ext cx="2459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EMBEDDING DIM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989320"/>
            <a:ext cx="110944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8788A"/>
                </a:solidFill>
                <a:latin typeface="Segoe UI"/>
              </a:rPr>
              <a:t>Query: embed question → cosine search → shortestPath join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CONTEXT ECONOMY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Knowledge graph cuts LLM context by 83.8%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114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5454F"/>
                </a:solidFill>
                <a:latin typeface="Segoe UI"/>
              </a:rPr>
              <a:t>Without KG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865376"/>
            <a:ext cx="2651760" cy="2926080"/>
          </a:xfrm>
          <a:prstGeom prst="rect">
            <a:avLst/>
          </a:prstGeom>
          <a:solidFill>
            <a:srgbClr val="EEDDFB"/>
          </a:solidFill>
          <a:ln w="19050">
            <a:solidFill>
              <a:srgbClr val="C6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163824"/>
            <a:ext cx="2651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4A007A"/>
                </a:solidFill>
                <a:latin typeface="Segoe UI"/>
              </a:rPr>
              <a:t>10,224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0118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78788A"/>
                </a:solidFill>
                <a:latin typeface="Segoe UI"/>
              </a:rPr>
              <a:t>Full schema · all 50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60320"/>
            <a:ext cx="1005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C6C6D2"/>
                </a:solidFill>
                <a:latin typeface="Segoe UI"/>
              </a:rPr>
              <a:t>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463040"/>
            <a:ext cx="4114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D00B3"/>
                </a:solidFill>
                <a:latin typeface="Segoe UI"/>
              </a:rPr>
              <a:t>With KG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1865376"/>
            <a:ext cx="2651760" cy="47548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975103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1,655 tokens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50592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78788A"/>
                </a:solidFill>
                <a:latin typeface="Segoe UI"/>
              </a:rPr>
              <a:t>KG-retrieved slice · 8 tables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D00B3"/>
                </a:solidFill>
                <a:latin typeface="Segoe UI"/>
              </a:rPr>
              <a:t>83.8% reduction  ·  6.2× factor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LLaMA reasons step-by-step via tool calls — max 6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23560" y="3383280"/>
            <a:ext cx="1188720" cy="548640"/>
          </a:xfrm>
          <a:prstGeom prst="roundRect">
            <a:avLst/>
          </a:prstGeom>
          <a:solidFill>
            <a:srgbClr val="D5B0F6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3383280"/>
            <a:ext cx="1188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6D00B3"/>
                </a:solidFill>
                <a:latin typeface="Segoe UI"/>
              </a:rPr>
              <a:t>THINK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920240"/>
            <a:ext cx="1188720" cy="548640"/>
          </a:xfrm>
          <a:prstGeom prst="roundRect">
            <a:avLst/>
          </a:prstGeom>
          <a:solidFill>
            <a:srgbClr val="A100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920240"/>
            <a:ext cx="1188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3383280"/>
            <a:ext cx="1188720" cy="548640"/>
          </a:xfrm>
          <a:prstGeom prst="roundRect">
            <a:avLst/>
          </a:prstGeom>
          <a:solidFill>
            <a:srgbClr val="D5B0F6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3383280"/>
            <a:ext cx="1188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6D00B3"/>
                </a:solidFill>
                <a:latin typeface="Segoe UI"/>
              </a:rPr>
              <a:t>OBSERVE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4846320"/>
            <a:ext cx="1188720" cy="548640"/>
          </a:xfrm>
          <a:prstGeom prst="roundRect">
            <a:avLst/>
          </a:prstGeom>
          <a:solidFill>
            <a:srgbClr val="D5B0F6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4846320"/>
            <a:ext cx="1188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6D00B3"/>
                </a:solidFill>
                <a:latin typeface="Segoe UI"/>
              </a:rPr>
              <a:t>PLAN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4754880" y="2194560"/>
            <a:ext cx="1463040" cy="1463040"/>
          </a:xfrm>
          <a:prstGeom prst="line">
            <a:avLst/>
          </a:prstGeom>
          <a:ln w="19050">
            <a:solidFill>
              <a:srgbClr val="6D0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291840" y="2194560"/>
            <a:ext cx="1463040" cy="1463040"/>
          </a:xfrm>
          <a:prstGeom prst="line">
            <a:avLst/>
          </a:prstGeom>
          <a:ln w="19050">
            <a:solidFill>
              <a:srgbClr val="6D0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91840" y="3657600"/>
            <a:ext cx="1463040" cy="1463040"/>
          </a:xfrm>
          <a:prstGeom prst="line">
            <a:avLst/>
          </a:prstGeom>
          <a:ln w="19050">
            <a:solidFill>
              <a:srgbClr val="6D0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754880" y="3657600"/>
            <a:ext cx="1463040" cy="1463040"/>
          </a:xfrm>
          <a:prstGeom prst="line">
            <a:avLst/>
          </a:prstGeom>
          <a:ln w="19050">
            <a:solidFill>
              <a:srgbClr val="6D0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51960" y="3383280"/>
            <a:ext cx="1005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6D00B3"/>
                </a:solidFill>
                <a:latin typeface="Segoe UI"/>
              </a:rPr>
              <a:t>≤6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6D00B3"/>
                </a:solidFill>
                <a:latin typeface="Segoe UI"/>
              </a:rPr>
              <a:t>steps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463040"/>
            <a:ext cx="3383280" cy="1280160"/>
          </a:xfrm>
          <a:prstGeom prst="rect">
            <a:avLst/>
          </a:prstGeom>
          <a:solidFill>
            <a:srgbClr val="EEDDFB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3648" y="1554480"/>
            <a:ext cx="31638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D00B3"/>
                </a:solidFill>
                <a:latin typeface="Consolas"/>
              </a:rPr>
              <a:t>get_schema_context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865376"/>
            <a:ext cx="316382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Finds relevant tables + join keys from Neo4j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2852928"/>
            <a:ext cx="3383280" cy="1280160"/>
          </a:xfrm>
          <a:prstGeom prst="rect">
            <a:avLst/>
          </a:prstGeom>
          <a:solidFill>
            <a:srgbClr val="EFEFF4"/>
          </a:solidFill>
          <a:ln w="19050">
            <a:solidFill>
              <a:srgbClr val="0A6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3648" y="2944368"/>
            <a:ext cx="31638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A6BAF"/>
                </a:solidFill>
                <a:latin typeface="Consolas"/>
              </a:rPr>
              <a:t>sample_values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3255264"/>
            <a:ext cx="316382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Resolves categorical filters (status, tier)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4242816"/>
            <a:ext cx="3383280" cy="1280160"/>
          </a:xfrm>
          <a:prstGeom prst="rect">
            <a:avLst/>
          </a:prstGeom>
          <a:solidFill>
            <a:srgbClr val="E8F5E9"/>
          </a:solidFill>
          <a:ln w="1905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13648" y="4334256"/>
            <a:ext cx="31638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7C63"/>
                </a:solidFill>
                <a:latin typeface="Consolas"/>
              </a:rPr>
              <a:t>run_sql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4645152"/>
            <a:ext cx="316382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5454F"/>
                </a:solidFill>
                <a:latin typeface="Segoe UI"/>
              </a:rPr>
              <a:t>Executes read-only SELECT on SQLite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Purpose-built stack — all open-source, all free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3576218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7393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2257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B7C63"/>
                </a:solidFill>
                <a:latin typeface="Segoe UI"/>
              </a:rPr>
              <a:t>REST API · ASYNC ·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141732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07738" y="1417320"/>
            <a:ext cx="3576218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7738" y="177393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Neo4j AuraDB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7738" y="232257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GRAPH DB · VECTOR 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6836" y="141732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6836" y="1417320"/>
            <a:ext cx="3576218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6836" y="177393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LLaMA 3.3 70b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6836" y="232257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GROQ LPU · 14,400 REQ/DAY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97180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971800"/>
            <a:ext cx="3576218" cy="457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32841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fastembed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7705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A6BAF"/>
                </a:solidFill>
                <a:latin typeface="Segoe UI"/>
              </a:rPr>
              <a:t>ONNX · ALL-MINILM-L6-V2 · 80MB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07738" y="297180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7738" y="2971800"/>
            <a:ext cx="3576218" cy="45720"/>
          </a:xfrm>
          <a:prstGeom prst="rect">
            <a:avLst/>
          </a:prstGeom>
          <a:solidFill>
            <a:srgbClr val="45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07738" y="332841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SQLite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07738" y="387705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45454F"/>
                </a:solidFill>
                <a:latin typeface="Segoe UI"/>
              </a:rPr>
              <a:t>50 TABLES · 23K ROWS · READ-ONLY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66836" y="297180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66836" y="2971800"/>
            <a:ext cx="3576218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6836" y="332841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Vercel + Render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6836" y="387705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B7C63"/>
                </a:solidFill>
                <a:latin typeface="Segoe UI"/>
              </a:rPr>
              <a:t>CDN FRONTEND · FREE API BACKEND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526280"/>
            <a:ext cx="3576218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8289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python-pptx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3153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DECK GENERATION · THIS SLIDE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07738" y="452628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07738" y="4526280"/>
            <a:ext cx="3576218" cy="457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07738" y="488289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sentence-tfmrs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7738" y="543153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A6BAF"/>
                </a:solidFill>
                <a:latin typeface="Segoe UI"/>
              </a:rPr>
              <a:t>→ FASTEMBED ONNX (OOM FIX)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6836" y="4526280"/>
            <a:ext cx="3576218" cy="137160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6836" y="4526280"/>
            <a:ext cx="3576218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6836" y="4882896"/>
            <a:ext cx="357621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python-dotenv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6836" y="5431536"/>
            <a:ext cx="357621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B7C63"/>
                </a:solidFill>
                <a:latin typeface="Segoe UI"/>
              </a:rPr>
              <a:t>SECRETS · NEVER COMMITTED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Three layers prevent data leaks and SQL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4415" cy="118872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1094415" cy="64008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502920" cy="502920"/>
          </a:xfrm>
          <a:prstGeom prst="round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61848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563624"/>
            <a:ext cx="8168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1119"/>
                </a:solidFill>
                <a:latin typeface="Segoe UI"/>
              </a:rPr>
              <a:t>Read-Only 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874519"/>
            <a:ext cx="8168335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5454F"/>
                </a:solidFill>
                <a:latin typeface="Segoe UI"/>
              </a:rPr>
              <a:t>Allowlist of SELECT/WITH only · SQLite opened ?mode=ro · identifier validation strips 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62895" y="1847088"/>
            <a:ext cx="1188720" cy="329184"/>
          </a:xfrm>
          <a:prstGeom prst="round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2895" y="1847088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Segoe UI"/>
              </a:rPr>
              <a:t>ENFORCED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07208"/>
            <a:ext cx="11094415" cy="118872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807208"/>
            <a:ext cx="11094415" cy="64008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3008376"/>
            <a:ext cx="502920" cy="502920"/>
          </a:xfrm>
          <a:prstGeom prst="round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953512"/>
            <a:ext cx="8168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1119"/>
                </a:solidFill>
                <a:latin typeface="Segoe UI"/>
              </a:rPr>
              <a:t>Schema Grounding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264408"/>
            <a:ext cx="8168335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5454F"/>
                </a:solidFill>
                <a:latin typeface="Segoe UI"/>
              </a:rPr>
              <a:t>KG retriever seeds only real table/column names · model never invents identifiers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62895" y="3236976"/>
            <a:ext cx="1188720" cy="329184"/>
          </a:xfrm>
          <a:prstGeom prst="round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62895" y="3236976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Segoe UI"/>
              </a:rPr>
              <a:t>ENFORCED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97096"/>
            <a:ext cx="11094415" cy="118872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97096"/>
            <a:ext cx="11094415" cy="64008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8368" y="4398264"/>
            <a:ext cx="502920" cy="502920"/>
          </a:xfrm>
          <a:prstGeom prst="round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3982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4343400"/>
            <a:ext cx="8168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1119"/>
                </a:solidFill>
                <a:latin typeface="Segoe UI"/>
              </a:rPr>
              <a:t>Answer Grounding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4654296"/>
            <a:ext cx="8168335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5454F"/>
                </a:solidFill>
                <a:latin typeface="Segoe UI"/>
              </a:rPr>
              <a:t>Deterministic check: do answer figures appear in the query result rows? Advisory — never gates.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62895" y="4626864"/>
            <a:ext cx="1188720" cy="329184"/>
          </a:xfrm>
          <a:prstGeom prst="round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2895" y="4626864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Segoe UI"/>
              </a:rPr>
              <a:t>ADVISORY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Production metrics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26364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4000" b="1">
                <a:solidFill>
                  <a:srgbClr val="6D00B3"/>
                </a:solidFill>
                <a:latin typeface="Segoe UI Light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03704"/>
            <a:ext cx="263644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spc="120">
                <a:solidFill>
                  <a:srgbClr val="78788A"/>
                </a:solidFill>
                <a:latin typeface="Segoe UI"/>
              </a:rPr>
              <a:t>TABLES IN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7963" y="1417320"/>
            <a:ext cx="26364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4000" b="1">
                <a:solidFill>
                  <a:srgbClr val="0A6BAF"/>
                </a:solidFill>
                <a:latin typeface="Segoe UI Light"/>
              </a:rPr>
              <a:t>23k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7963" y="2203704"/>
            <a:ext cx="263644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spc="120">
                <a:solidFill>
                  <a:srgbClr val="78788A"/>
                </a:solidFill>
                <a:latin typeface="Segoe UI"/>
              </a:rPr>
              <a:t>ROWS OF SALES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7287" y="1417320"/>
            <a:ext cx="26364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4000" b="1">
                <a:solidFill>
                  <a:srgbClr val="6D00B3"/>
                </a:solidFill>
                <a:latin typeface="Segoe UI Light"/>
              </a:rPr>
              <a:t>441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7287" y="2203704"/>
            <a:ext cx="263644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spc="120">
                <a:solidFill>
                  <a:srgbClr val="78788A"/>
                </a:solidFill>
                <a:latin typeface="Segoe UI"/>
              </a:rPr>
              <a:t>KG NODES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611" y="1417320"/>
            <a:ext cx="26364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4000" b="1">
                <a:solidFill>
                  <a:srgbClr val="0B7C63"/>
                </a:solidFill>
                <a:latin typeface="Segoe UI Light"/>
              </a:rPr>
              <a:t>3–8s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611" y="2203704"/>
            <a:ext cx="263644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spc="120">
                <a:solidFill>
                  <a:srgbClr val="78788A"/>
                </a:solidFill>
                <a:latin typeface="Segoe UI"/>
              </a:rPr>
              <a:t>QUERY RESPONSE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17520"/>
            <a:ext cx="26364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4000" b="1">
                <a:solidFill>
                  <a:srgbClr val="6D00B3"/>
                </a:solidFill>
                <a:latin typeface="Segoe UI Light"/>
              </a:rPr>
              <a:t>83.8%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03904"/>
            <a:ext cx="263644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spc="120">
                <a:solidFill>
                  <a:srgbClr val="78788A"/>
                </a:solidFill>
                <a:latin typeface="Segoe UI"/>
              </a:rPr>
              <a:t>CONTEXT REDUCTION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7963" y="3017520"/>
            <a:ext cx="26364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4000" b="1">
                <a:solidFill>
                  <a:srgbClr val="6D00B3"/>
                </a:solidFill>
                <a:latin typeface="Segoe UI Light"/>
              </a:rPr>
              <a:t>6.2×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7963" y="3803904"/>
            <a:ext cx="263644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spc="120">
                <a:solidFill>
                  <a:srgbClr val="78788A"/>
                </a:solidFill>
                <a:latin typeface="Segoe UI"/>
              </a:rPr>
              <a:t>TOKEN EFFICIENCY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3017520"/>
            <a:ext cx="26364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4000" b="1">
                <a:solidFill>
                  <a:srgbClr val="0A6BAF"/>
                </a:solidFill>
                <a:latin typeface="Segoe UI Light"/>
              </a:rPr>
              <a:t>14,400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3803904"/>
            <a:ext cx="263644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spc="120">
                <a:solidFill>
                  <a:srgbClr val="78788A"/>
                </a:solidFill>
                <a:latin typeface="Segoe UI"/>
              </a:rPr>
              <a:t>FREE QUERIES /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611" y="3017520"/>
            <a:ext cx="26364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4000" b="1">
                <a:solidFill>
                  <a:srgbClr val="0B7C63"/>
                </a:solidFill>
                <a:latin typeface="Segoe UI Light"/>
              </a:rPr>
              <a:t>≤6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611" y="3803904"/>
            <a:ext cx="263644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spc="120">
                <a:solidFill>
                  <a:srgbClr val="78788A"/>
                </a:solidFill>
                <a:latin typeface="Segoe UI"/>
              </a:rPr>
              <a:t>REACT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54880"/>
            <a:ext cx="11094415" cy="7315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Deployed · Vercel frontend + Render API · Neo4j AuraDB · Groq LPU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What's done — what's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212080" cy="420624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212080" cy="36576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✓  DELIVERED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846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B7C63"/>
                </a:solidFill>
                <a:latin typeface="Segoe UI"/>
              </a:rPr>
              <a:t>✓  Railway → Render migration (free tier, no timeout)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23744"/>
            <a:ext cx="4846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B7C63"/>
                </a:solidFill>
                <a:latin typeface="Segoe UI"/>
              </a:rPr>
              <a:t>✓  Groq / LLaMA-3.3-70b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27248"/>
            <a:ext cx="4846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B7C63"/>
                </a:solidFill>
                <a:latin typeface="Segoe UI"/>
              </a:rPr>
              <a:t>✓  sentence-transformers → fastembed (OOM fix)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30752"/>
            <a:ext cx="4846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B7C63"/>
                </a:solidFill>
                <a:latin typeface="Segoe UI"/>
              </a:rPr>
              <a:t>✓  KG-grounded context slicing (83.8% reduction)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34256"/>
            <a:ext cx="4846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B7C63"/>
                </a:solidFill>
                <a:latin typeface="Segoe UI"/>
              </a:rPr>
              <a:t>✓  Read-only SQL + identifier guardrails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4846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B7C63"/>
                </a:solidFill>
                <a:latin typeface="Segoe UI"/>
              </a:rPr>
              <a:t>✓  Vercel CDN + Render API split deployment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41871" y="1417320"/>
            <a:ext cx="4901184" cy="420624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41871" y="1417320"/>
            <a:ext cx="4901184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1871" y="1417320"/>
            <a:ext cx="49011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?  TO EXPLORE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751" y="1920240"/>
            <a:ext cx="45354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D00B3"/>
                </a:solidFill>
                <a:latin typeface="Segoe UI"/>
              </a:rPr>
              <a:t>?  Multi-hop KG joins for complex aggregations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4751" y="2523744"/>
            <a:ext cx="45354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D00B3"/>
                </a:solidFill>
                <a:latin typeface="Segoe UI"/>
              </a:rPr>
              <a:t>?  Streaming responses (SSE / WebSocket)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4751" y="3127248"/>
            <a:ext cx="45354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D00B3"/>
                </a:solidFill>
                <a:latin typeface="Segoe UI"/>
              </a:rPr>
              <a:t>?  Authentication layer (OAuth 2.0 / JWT)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751" y="3730752"/>
            <a:ext cx="45354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D00B3"/>
                </a:solidFill>
                <a:latin typeface="Segoe UI"/>
              </a:rPr>
              <a:t>?  Auto-refresh KG on schema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751" y="4334256"/>
            <a:ext cx="45354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D00B3"/>
                </a:solidFill>
                <a:latin typeface="Segoe UI"/>
              </a:rPr>
              <a:t>?  Feedback loop — rate answers to fine-tune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751" y="4937760"/>
            <a:ext cx="45354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D00B3"/>
                </a:solidFill>
                <a:latin typeface="Segoe UI"/>
              </a:rPr>
              <a:t>?  Multi-database support (Postgres, Snowflake)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A007A"/>
              </a:gs>
              <a:gs pos="100000">
                <a:srgbClr val="A100FF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Segoe UI Light"/>
              </a:rPr>
              <a:t>DataPulse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06040"/>
            <a:ext cx="121916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"/>
              </a:rPr>
              <a:t>Text-to-SQL. Grounded. Fast. Production-ready.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52447" y="3474720"/>
            <a:ext cx="2651760" cy="438912"/>
          </a:xfrm>
          <a:prstGeom prst="roundRect">
            <a:avLst/>
          </a:prstGeom>
          <a:solidFill>
            <a:srgbClr val="4A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52447" y="347472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83.8% less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9967" y="3474720"/>
            <a:ext cx="2651760" cy="438912"/>
          </a:xfrm>
          <a:prstGeom prst="roundRect">
            <a:avLst/>
          </a:prstGeom>
          <a:solidFill>
            <a:srgbClr val="4A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9967" y="347472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3–8s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87487" y="3474720"/>
            <a:ext cx="2651760" cy="438912"/>
          </a:xfrm>
          <a:prstGeom prst="roundRect">
            <a:avLst/>
          </a:prstGeom>
          <a:solidFill>
            <a:srgbClr val="4A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7487" y="347472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Free tier · Groq + Render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12064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5B0F6"/>
                </a:solidFill>
                <a:latin typeface="Segoe UI"/>
              </a:rPr>
              <a:t>Mohan Kumar S  ·  Accenture  ·  mohan.a.kumar.s@accenture.com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